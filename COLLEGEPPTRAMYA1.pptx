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sldIdLst>
    <p:sldId id="257" r:id="rId5"/>
    <p:sldId id="259" r:id="rId6"/>
    <p:sldId id="258" r:id="rId7"/>
    <p:sldId id="260" r:id="rId8"/>
    <p:sldId id="287" r:id="rId9"/>
    <p:sldId id="261" r:id="rId10"/>
    <p:sldId id="288" r:id="rId11"/>
    <p:sldId id="262" r:id="rId12"/>
    <p:sldId id="270" r:id="rId13"/>
    <p:sldId id="271" r:id="rId14"/>
    <p:sldId id="278" r:id="rId15"/>
    <p:sldId id="289" r:id="rId16"/>
    <p:sldId id="264" r:id="rId17"/>
    <p:sldId id="265" r:id="rId18"/>
    <p:sldId id="267" r:id="rId19"/>
    <p:sldId id="290" r:id="rId20"/>
    <p:sldId id="295" r:id="rId21"/>
    <p:sldId id="282" r:id="rId22"/>
    <p:sldId id="283" r:id="rId23"/>
    <p:sldId id="301" r:id="rId24"/>
    <p:sldId id="302" r:id="rId25"/>
    <p:sldId id="300" r:id="rId26"/>
    <p:sldId id="291" r:id="rId27"/>
    <p:sldId id="292" r:id="rId28"/>
    <p:sldId id="293" r:id="rId29"/>
    <p:sldId id="294" r:id="rId30"/>
    <p:sldId id="296" r:id="rId31"/>
    <p:sldId id="299" r:id="rId32"/>
    <p:sldId id="298" r:id="rId33"/>
    <p:sldId id="297" r:id="rId34"/>
    <p:sldId id="303" r:id="rId35"/>
    <p:sldId id="276" r:id="rId36"/>
    <p:sldId id="277" r:id="rId37"/>
    <p:sldId id="281" r:id="rId38"/>
    <p:sldId id="275" r:id="rId39"/>
    <p:sldId id="279" r:id="rId40"/>
    <p:sldId id="285" r:id="rId41"/>
    <p:sldId id="286"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758" autoAdjust="0"/>
  </p:normalViewPr>
  <p:slideViewPr>
    <p:cSldViewPr snapToGrid="0">
      <p:cViewPr varScale="1">
        <p:scale>
          <a:sx n="73" d="100"/>
          <a:sy n="73" d="100"/>
        </p:scale>
        <p:origin x="107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9/2/2025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9/2/2025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1355835" y="1020432"/>
            <a:ext cx="10218906" cy="925476"/>
          </a:xfrm>
        </p:spPr>
        <p:txBody>
          <a:bodyPr>
            <a:normAutofit fontScale="90000"/>
          </a:bodyPr>
          <a:lstStyle/>
          <a:p>
            <a:pPr lvl="0" defTabSz="914400">
              <a:spcBef>
                <a:spcPts val="0"/>
              </a:spcBef>
              <a:defRPr/>
            </a:pPr>
            <a:r>
              <a:rPr kumimoji="0" lang="en-GB" sz="2700" b="1" i="0" u="none" strike="noStrike" kern="0" cap="none" spc="0" normalizeH="0" baseline="0" noProof="0" dirty="0">
                <a:ln>
                  <a:noFill/>
                </a:ln>
                <a:solidFill>
                  <a:srgbClr val="FF0000"/>
                </a:solidFill>
                <a:effectLst/>
                <a:uLnTx/>
                <a:uFillTx/>
                <a:latin typeface="Federo"/>
                <a:ea typeface="Federo"/>
                <a:cs typeface="Federo"/>
                <a:sym typeface="Federo"/>
              </a:rPr>
              <a:t>                              Seth Ghasiram Gopikishan Badruka Educational Society</a:t>
            </a:r>
            <a:br>
              <a:rPr kumimoji="0" lang="en-GB" sz="1400" b="0" i="0" u="none" strike="noStrike" kern="0" cap="none" spc="0" normalizeH="0" baseline="0" noProof="0" dirty="0">
                <a:ln>
                  <a:noFill/>
                </a:ln>
                <a:solidFill>
                  <a:srgbClr val="000000"/>
                </a:solidFill>
                <a:effectLst/>
                <a:uLnTx/>
                <a:uFillTx/>
                <a:latin typeface="Arial"/>
                <a:cs typeface="Arial"/>
                <a:sym typeface="Arial"/>
              </a:rPr>
            </a:br>
            <a:r>
              <a:rPr kumimoji="0" lang="en-GB" sz="1400" b="0" i="0" u="none" strike="noStrike" kern="0" cap="none" spc="0" normalizeH="0" baseline="0" noProof="0" dirty="0">
                <a:ln>
                  <a:noFill/>
                </a:ln>
                <a:solidFill>
                  <a:srgbClr val="000000"/>
                </a:solidFill>
                <a:effectLst/>
                <a:uLnTx/>
                <a:uFillTx/>
                <a:latin typeface="Arial"/>
                <a:cs typeface="Arial"/>
                <a:sym typeface="Arial"/>
              </a:rPr>
              <a:t>                   </a:t>
            </a:r>
            <a:r>
              <a:rPr lang="en-GB" b="1" cap="none" dirty="0">
                <a:solidFill>
                  <a:srgbClr val="436054"/>
                </a:solidFill>
                <a:latin typeface="Federo"/>
                <a:ea typeface="Federo"/>
                <a:cs typeface="Federo"/>
                <a:sym typeface="Federo"/>
              </a:rPr>
              <a:t>Bankatlal Badruka College for Information Technology</a:t>
            </a:r>
            <a:endParaRPr lang="en-US" dirty="0"/>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8001332" cy="3342124"/>
          </a:xfrm>
        </p:spPr>
        <p:txBody>
          <a:bodyPr>
            <a:normAutofit fontScale="55000" lnSpcReduction="20000"/>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GB" sz="29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NAME               : THOTA RAMYA</a:t>
            </a:r>
            <a:endParaRPr kumimoji="0" lang="en-GB" sz="29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GB" sz="29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Hall Ticket No. : 106623559028</a:t>
            </a:r>
            <a:endParaRPr kumimoji="0" lang="en-GB" sz="29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GB" sz="29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Title of Paper    : Capstone Project-2(MDS-402)</a:t>
            </a:r>
            <a:endParaRPr kumimoji="0" lang="en-GB" sz="29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GB" sz="29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Year/Semester  : 2</a:t>
            </a:r>
            <a:r>
              <a:rPr kumimoji="0" lang="en-GB" sz="2900" b="1" i="0" u="none" strike="noStrike" kern="0" cap="none" spc="0" normalizeH="0" baseline="30000" noProof="0" dirty="0">
                <a:ln>
                  <a:noFill/>
                </a:ln>
                <a:solidFill>
                  <a:srgbClr val="000000"/>
                </a:solidFill>
                <a:effectLst/>
                <a:uLnTx/>
                <a:uFillTx/>
                <a:latin typeface="Times New Roman"/>
                <a:ea typeface="Times New Roman"/>
                <a:cs typeface="Times New Roman"/>
                <a:sym typeface="Times New Roman"/>
              </a:rPr>
              <a:t>nd</a:t>
            </a:r>
            <a:r>
              <a:rPr kumimoji="0" lang="en-GB" sz="29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Year/4</a:t>
            </a:r>
            <a:r>
              <a:rPr kumimoji="0" lang="en-GB" sz="2900" b="1" i="0" u="none" strike="noStrike" kern="0" cap="none" spc="0" normalizeH="0" baseline="30000" noProof="0" dirty="0">
                <a:ln>
                  <a:noFill/>
                </a:ln>
                <a:solidFill>
                  <a:srgbClr val="000000"/>
                </a:solidFill>
                <a:effectLst/>
                <a:uLnTx/>
                <a:uFillTx/>
                <a:latin typeface="Times New Roman"/>
                <a:ea typeface="Times New Roman"/>
                <a:cs typeface="Times New Roman"/>
                <a:sym typeface="Times New Roman"/>
              </a:rPr>
              <a:t>th</a:t>
            </a:r>
            <a:r>
              <a:rPr kumimoji="0" lang="en-GB" sz="29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Semester</a:t>
            </a:r>
            <a:endParaRPr kumimoji="0" lang="en-GB" sz="29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GB" sz="29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Course               : Master of Science(Data Science)</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lang="en-GB" sz="32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lang="en-GB" sz="32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GB" sz="32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GB" sz="32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Project Coordinator : </a:t>
            </a:r>
            <a:r>
              <a:rPr kumimoji="0" lang="en-GB" sz="32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Mrs. Karanam Lakshmi </a:t>
            </a:r>
            <a:r>
              <a:rPr kumimoji="0" lang="en-GB" sz="32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(Department of Statistics)</a:t>
            </a:r>
            <a:endParaRPr kumimoji="0" lang="en-GB" sz="32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32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Internal Supervisor : </a:t>
            </a:r>
            <a:r>
              <a:rPr kumimoji="0" lang="en-GB" sz="32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Mrs.Sunitha </a:t>
            </a:r>
            <a:r>
              <a:rPr kumimoji="0" lang="en-GB" sz="32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(Department of Computer Science)</a:t>
            </a:r>
            <a:endParaRPr kumimoji="0" lang="en-GB" sz="32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32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BBCIT</a:t>
            </a:r>
          </a:p>
          <a:p>
            <a:endParaRPr lang="en-US" dirty="0"/>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a:extLst>
              <a:ext uri="{FF2B5EF4-FFF2-40B4-BE49-F238E27FC236}">
                <a16:creationId xmlns:a16="http://schemas.microsoft.com/office/drawing/2014/main" id="{649410AE-E967-1B0E-9B32-32A8032BB5B7}"/>
              </a:ext>
            </a:extLst>
          </p:cNvPr>
          <p:cNvPicPr>
            <a:picLocks noChangeAspect="1"/>
          </p:cNvPicPr>
          <p:nvPr/>
        </p:nvPicPr>
        <p:blipFill>
          <a:blip r:embed="rId2"/>
          <a:stretch>
            <a:fillRect/>
          </a:stretch>
        </p:blipFill>
        <p:spPr>
          <a:xfrm>
            <a:off x="8692055" y="2270235"/>
            <a:ext cx="3053411" cy="3258206"/>
          </a:xfrm>
          <a:prstGeom prst="rect">
            <a:avLst/>
          </a:prstGeom>
        </p:spPr>
      </p:pic>
      <p:pic>
        <p:nvPicPr>
          <p:cNvPr id="9" name="Picture 8">
            <a:extLst>
              <a:ext uri="{FF2B5EF4-FFF2-40B4-BE49-F238E27FC236}">
                <a16:creationId xmlns:a16="http://schemas.microsoft.com/office/drawing/2014/main" id="{75F7893D-8D60-59EF-4B48-917E556C6630}"/>
              </a:ext>
            </a:extLst>
          </p:cNvPr>
          <p:cNvPicPr>
            <a:picLocks noChangeAspect="1"/>
          </p:cNvPicPr>
          <p:nvPr/>
        </p:nvPicPr>
        <p:blipFill>
          <a:blip r:embed="rId3"/>
          <a:stretch>
            <a:fillRect/>
          </a:stretch>
        </p:blipFill>
        <p:spPr>
          <a:xfrm>
            <a:off x="193252" y="865639"/>
            <a:ext cx="1751161" cy="1404596"/>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F2D640-C58B-D514-45F5-E36F62831DCD}"/>
              </a:ext>
            </a:extLst>
          </p:cNvPr>
          <p:cNvPicPr>
            <a:picLocks noChangeAspect="1"/>
          </p:cNvPicPr>
          <p:nvPr/>
        </p:nvPicPr>
        <p:blipFill>
          <a:blip r:embed="rId2"/>
          <a:stretch>
            <a:fillRect/>
          </a:stretch>
        </p:blipFill>
        <p:spPr>
          <a:xfrm>
            <a:off x="385011" y="2109538"/>
            <a:ext cx="11225796" cy="4138863"/>
          </a:xfrm>
          <a:prstGeom prst="rect">
            <a:avLst/>
          </a:prstGeom>
        </p:spPr>
      </p:pic>
      <p:sp>
        <p:nvSpPr>
          <p:cNvPr id="4" name="Title 3">
            <a:extLst>
              <a:ext uri="{FF2B5EF4-FFF2-40B4-BE49-F238E27FC236}">
                <a16:creationId xmlns:a16="http://schemas.microsoft.com/office/drawing/2014/main" id="{28E2C7D1-34E5-25F0-6088-5A69D0E0071E}"/>
              </a:ext>
            </a:extLst>
          </p:cNvPr>
          <p:cNvSpPr>
            <a:spLocks noGrp="1"/>
          </p:cNvSpPr>
          <p:nvPr>
            <p:ph type="title"/>
          </p:nvPr>
        </p:nvSpPr>
        <p:spPr>
          <a:xfrm>
            <a:off x="629318" y="707923"/>
            <a:ext cx="11029616" cy="993057"/>
          </a:xfrm>
        </p:spPr>
        <p:txBody>
          <a:bodyPr>
            <a:normAutofit fontScale="90000"/>
          </a:bodyPr>
          <a:lstStyle/>
          <a:p>
            <a:pPr algn="ctr"/>
            <a:br>
              <a:rPr lang="en-US" b="1" cap="none" dirty="0">
                <a:solidFill>
                  <a:prstClr val="black"/>
                </a:solidFill>
                <a:latin typeface="Trebuchet MS" panose="020B0603020202020204"/>
              </a:rPr>
            </a:br>
            <a:br>
              <a:rPr lang="en-US" b="1" cap="none" dirty="0">
                <a:solidFill>
                  <a:prstClr val="black"/>
                </a:solidFill>
                <a:latin typeface="Trebuchet MS" panose="020B0603020202020204"/>
              </a:rPr>
            </a:br>
            <a:br>
              <a:rPr lang="en-US" b="1" cap="none" dirty="0">
                <a:solidFill>
                  <a:prstClr val="black"/>
                </a:solidFill>
                <a:latin typeface="Trebuchet MS" panose="020B0603020202020204"/>
              </a:rPr>
            </a:br>
            <a:br>
              <a:rPr lang="en-US" b="1" cap="none" dirty="0">
                <a:solidFill>
                  <a:prstClr val="black"/>
                </a:solidFill>
                <a:latin typeface="Trebuchet MS" panose="020B0603020202020204"/>
              </a:rPr>
            </a:br>
            <a:br>
              <a:rPr lang="en-US" b="1" cap="none" dirty="0">
                <a:solidFill>
                  <a:prstClr val="black"/>
                </a:solidFill>
                <a:latin typeface="Trebuchet MS" panose="020B0603020202020204"/>
              </a:rPr>
            </a:br>
            <a:br>
              <a:rPr lang="en-US" b="1" cap="none" dirty="0">
                <a:solidFill>
                  <a:prstClr val="black"/>
                </a:solidFill>
                <a:latin typeface="Trebuchet MS" panose="020B0603020202020204"/>
              </a:rPr>
            </a:br>
            <a:br>
              <a:rPr lang="en-US" b="1" cap="none" dirty="0">
                <a:solidFill>
                  <a:prstClr val="black"/>
                </a:solidFill>
                <a:latin typeface="Trebuchet MS" panose="020B0603020202020204"/>
              </a:rPr>
            </a:br>
            <a:r>
              <a:rPr lang="en-US" b="1" cap="none" dirty="0">
                <a:solidFill>
                  <a:srgbClr val="7030A0"/>
                </a:solidFill>
                <a:latin typeface="Times New Roman" panose="02020603050405020304" pitchFamily="18" charset="0"/>
                <a:cs typeface="Times New Roman" panose="02020603050405020304" pitchFamily="18" charset="0"/>
              </a:rPr>
              <a:t>Flight Ticket Price Prediction Using Machine Learning </a:t>
            </a:r>
            <a:br>
              <a:rPr lang="en-US" b="1" cap="none" dirty="0">
                <a:solidFill>
                  <a:srgbClr val="7030A0"/>
                </a:solidFill>
                <a:latin typeface="Times New Roman" panose="02020603050405020304" pitchFamily="18" charset="0"/>
                <a:cs typeface="Times New Roman" panose="02020603050405020304" pitchFamily="18" charset="0"/>
              </a:rPr>
            </a:br>
            <a:r>
              <a:rPr lang="en-US" b="1" cap="none" dirty="0">
                <a:solidFill>
                  <a:srgbClr val="7030A0"/>
                </a:solidFill>
                <a:latin typeface="Times New Roman" panose="02020603050405020304" pitchFamily="18" charset="0"/>
                <a:cs typeface="Times New Roman" panose="02020603050405020304" pitchFamily="18" charset="0"/>
              </a:rPr>
              <a:t>And Deep Learning</a:t>
            </a:r>
            <a:endParaRPr lang="en-IN" dirty="0">
              <a:solidFill>
                <a:srgbClr val="7030A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F480F265-6A6E-41F1-213F-24DD72FAB775}"/>
              </a:ext>
            </a:extLst>
          </p:cNvPr>
          <p:cNvSpPr>
            <a:spLocks noGrp="1"/>
          </p:cNvSpPr>
          <p:nvPr>
            <p:ph idx="1"/>
          </p:nvPr>
        </p:nvSpPr>
        <p:spPr>
          <a:xfrm>
            <a:off x="385011" y="2129989"/>
            <a:ext cx="11029615" cy="4138862"/>
          </a:xfrm>
        </p:spPr>
        <p:txBody>
          <a:bodyPr/>
          <a:lstStyle/>
          <a:p>
            <a:endParaRPr lang="en-IN" dirty="0"/>
          </a:p>
        </p:txBody>
      </p:sp>
    </p:spTree>
    <p:extLst>
      <p:ext uri="{BB962C8B-B14F-4D97-AF65-F5344CB8AC3E}">
        <p14:creationId xmlns:p14="http://schemas.microsoft.com/office/powerpoint/2010/main" val="214996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idx="4294967295"/>
          </p:nvPr>
        </p:nvSpPr>
        <p:spPr>
          <a:xfrm>
            <a:off x="2774731" y="858992"/>
            <a:ext cx="5370785" cy="947130"/>
          </a:xfrm>
        </p:spPr>
        <p:txBody>
          <a:bodyPr>
            <a:normAutofit fontScale="90000"/>
          </a:bodyPr>
          <a:lstStyle/>
          <a:p>
            <a:pPr algn="ctr"/>
            <a:r>
              <a:rPr lang="en-US" dirty="0"/>
              <a:t>                                                  </a:t>
            </a:r>
            <a:r>
              <a:rPr lang="en-US" sz="4400" b="1" dirty="0">
                <a:solidFill>
                  <a:srgbClr val="7030A0"/>
                </a:solidFill>
                <a:latin typeface="Times New Roman" panose="02020603050405020304" pitchFamily="18" charset="0"/>
                <a:cs typeface="Times New Roman" panose="02020603050405020304" pitchFamily="18" charset="0"/>
              </a:rPr>
              <a:t>INDEX</a:t>
            </a:r>
          </a:p>
        </p:txBody>
      </p:sp>
      <p:sp>
        <p:nvSpPr>
          <p:cNvPr id="17" name="TextBox 16">
            <a:extLst>
              <a:ext uri="{FF2B5EF4-FFF2-40B4-BE49-F238E27FC236}">
                <a16:creationId xmlns:a16="http://schemas.microsoft.com/office/drawing/2014/main" id="{96FC19AB-34E4-CA88-957A-082440F83E99}"/>
              </a:ext>
            </a:extLst>
          </p:cNvPr>
          <p:cNvSpPr txBox="1"/>
          <p:nvPr/>
        </p:nvSpPr>
        <p:spPr>
          <a:xfrm>
            <a:off x="1492434" y="1806122"/>
            <a:ext cx="9995373" cy="4401205"/>
          </a:xfrm>
          <a:prstGeom prst="rect">
            <a:avLst/>
          </a:prstGeom>
          <a:noFill/>
        </p:spPr>
        <p:txBody>
          <a:bodyPr wrap="square">
            <a:sp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Abstract</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b="1" kern="0" dirty="0">
                <a:solidFill>
                  <a:sysClr val="windowText" lastClr="000000"/>
                </a:solidFill>
                <a:latin typeface="Times New Roman" panose="02020603050405020304" pitchFamily="18" charset="0"/>
                <a:cs typeface="Times New Roman" panose="02020603050405020304" pitchFamily="18" charset="0"/>
              </a:rPr>
              <a:t>Introduction</a:t>
            </a:r>
            <a:endParaRPr kumimoji="0" lang="en-IN"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b="1" kern="0" dirty="0">
                <a:solidFill>
                  <a:sysClr val="windowText" lastClr="000000"/>
                </a:solidFill>
                <a:latin typeface="Times New Roman" panose="02020603050405020304" pitchFamily="18" charset="0"/>
                <a:cs typeface="Times New Roman" panose="02020603050405020304" pitchFamily="18" charset="0"/>
              </a:rPr>
              <a:t>Problem Statement</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b="1" kern="0" dirty="0">
                <a:solidFill>
                  <a:sysClr val="windowText" lastClr="000000"/>
                </a:solidFill>
                <a:latin typeface="Times New Roman" panose="02020603050405020304" pitchFamily="18" charset="0"/>
                <a:cs typeface="Times New Roman" panose="02020603050405020304" pitchFamily="18" charset="0"/>
              </a:rPr>
              <a:t>Objectives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b="1" kern="0" dirty="0">
                <a:solidFill>
                  <a:sysClr val="windowText" lastClr="000000"/>
                </a:solidFill>
                <a:latin typeface="Times New Roman" panose="02020603050405020304" pitchFamily="18" charset="0"/>
                <a:cs typeface="Times New Roman" panose="02020603050405020304" pitchFamily="18" charset="0"/>
              </a:rPr>
              <a:t>Literature Survey</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Importance</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b="1" kern="0" dirty="0">
                <a:solidFill>
                  <a:sysClr val="windowText" lastClr="000000"/>
                </a:solidFill>
                <a:latin typeface="Times New Roman" panose="02020603050405020304" pitchFamily="18" charset="0"/>
                <a:cs typeface="Times New Roman" panose="02020603050405020304" pitchFamily="18" charset="0"/>
              </a:rPr>
              <a:t>Hardware Requirements and Software Requirements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Methodology</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b="1" kern="0" dirty="0">
                <a:solidFill>
                  <a:sysClr val="windowText" lastClr="000000"/>
                </a:solidFill>
                <a:latin typeface="Times New Roman" panose="02020603050405020304" pitchFamily="18" charset="0"/>
                <a:cs typeface="Times New Roman" panose="02020603050405020304" pitchFamily="18" charset="0"/>
              </a:rPr>
              <a:t>Data Collection And Description</a:t>
            </a:r>
            <a:endParaRPr kumimoji="0" lang="en-IN"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Data </a:t>
            </a:r>
            <a:r>
              <a:rPr lang="en-IN" sz="1400" b="1" kern="0" dirty="0">
                <a:solidFill>
                  <a:sysClr val="windowText" lastClr="000000"/>
                </a:solidFill>
                <a:latin typeface="Times New Roman" panose="02020603050405020304" pitchFamily="18" charset="0"/>
                <a:cs typeface="Times New Roman" panose="02020603050405020304" pitchFamily="18" charset="0"/>
              </a:rPr>
              <a:t>Preprocessing</a:t>
            </a:r>
          </a:p>
          <a:p>
            <a:pPr marL="285750" indent="-285750">
              <a:buFont typeface="Arial" panose="020B0604020202020204" pitchFamily="34" charset="0"/>
              <a:buChar char="•"/>
              <a:defRPr/>
            </a:pPr>
            <a:r>
              <a:rPr lang="en-IN" sz="1400" b="1" dirty="0">
                <a:latin typeface="Times New Roman" panose="02020603050405020304" pitchFamily="18" charset="0"/>
                <a:cs typeface="Times New Roman" panose="02020603050405020304" pitchFamily="18" charset="0"/>
              </a:rPr>
              <a:t>Exploratory Data Analysis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Introduction to machine Learning</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b="1" kern="0" dirty="0">
                <a:solidFill>
                  <a:sysClr val="windowText" lastClr="000000"/>
                </a:solidFill>
                <a:latin typeface="Times New Roman" panose="02020603050405020304" pitchFamily="18" charset="0"/>
                <a:cs typeface="Times New Roman" panose="02020603050405020304" pitchFamily="18" charset="0"/>
              </a:rPr>
              <a:t>Introduction to Deep  Learning</a:t>
            </a:r>
            <a:endParaRPr kumimoji="0" lang="en-IN"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Selected Algorithm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Model Performance Evaluation</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b="1" kern="0" dirty="0">
                <a:solidFill>
                  <a:sysClr val="windowText" lastClr="000000"/>
                </a:solidFill>
                <a:latin typeface="Times New Roman" panose="02020603050405020304" pitchFamily="18" charset="0"/>
                <a:cs typeface="Times New Roman" panose="02020603050405020304" pitchFamily="18" charset="0"/>
              </a:rPr>
              <a:t>Deployment Instructions And Results</a:t>
            </a:r>
            <a:endParaRPr kumimoji="0" lang="en-US" alt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defRPr/>
            </a:pPr>
            <a:r>
              <a:rPr lang="en-US" altLang="en-US" sz="1400" b="1" kern="0" dirty="0">
                <a:solidFill>
                  <a:prstClr val="black"/>
                </a:solidFill>
                <a:latin typeface="Times New Roman" panose="02020603050405020304" pitchFamily="18" charset="0"/>
                <a:cs typeface="Times New Roman" panose="02020603050405020304" pitchFamily="18" charset="0"/>
              </a:rPr>
              <a:t>  Challenges And Limitations</a:t>
            </a:r>
          </a:p>
          <a:p>
            <a:pPr marL="285750" indent="-285750">
              <a:buFont typeface="Arial" panose="020B0604020202020204" pitchFamily="34" charset="0"/>
              <a:buChar char="•"/>
              <a:defRPr/>
            </a:pPr>
            <a:r>
              <a:rPr kumimoji="0" lang="en-US" altLang="en-US" sz="14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Conclusion</a:t>
            </a:r>
            <a:endParaRPr kumimoji="0" lang="en-US" alt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defRPr/>
            </a:pPr>
            <a:r>
              <a:rPr lang="en-IN" sz="1400" b="1" kern="0" dirty="0">
                <a:solidFill>
                  <a:sysClr val="windowText" lastClr="000000"/>
                </a:solidFill>
                <a:latin typeface="Times New Roman" panose="02020603050405020304" pitchFamily="18" charset="0"/>
                <a:cs typeface="Times New Roman" pitchFamily="18" charset="0"/>
              </a:rPr>
              <a:t>Future Improvements</a:t>
            </a:r>
            <a:endParaRPr kumimoji="0" lang="en-US" alt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1" kern="0" dirty="0">
                <a:solidFill>
                  <a:sysClr val="windowText" lastClr="000000"/>
                </a:solidFill>
                <a:latin typeface="Times New Roman" panose="02020603050405020304" pitchFamily="18" charset="0"/>
                <a:cs typeface="Times New Roman" panose="02020603050405020304" pitchFamily="18" charset="0"/>
              </a:rPr>
              <a:t>References</a:t>
            </a:r>
            <a:endPar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784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1132A-6171-11B8-AB98-6AE29748F89C}"/>
              </a:ext>
            </a:extLst>
          </p:cNvPr>
          <p:cNvSpPr>
            <a:spLocks noGrp="1"/>
          </p:cNvSpPr>
          <p:nvPr>
            <p:ph type="title"/>
          </p:nvPr>
        </p:nvSpPr>
        <p:spPr/>
        <p:txBody>
          <a:bodyPr>
            <a:normAutofit/>
          </a:bodyPr>
          <a:lstStyle/>
          <a:p>
            <a:pPr algn="ctr"/>
            <a:br>
              <a:rPr lang="en-US" dirty="0"/>
            </a:br>
            <a:r>
              <a:rPr lang="en-US" b="1" dirty="0">
                <a:solidFill>
                  <a:srgbClr val="7030A0"/>
                </a:solidFill>
              </a:rPr>
              <a:t>ABSTRACT</a:t>
            </a:r>
            <a:endParaRPr lang="en-IN" dirty="0">
              <a:solidFill>
                <a:srgbClr val="7030A0"/>
              </a:solidFill>
            </a:endParaRPr>
          </a:p>
        </p:txBody>
      </p:sp>
      <p:sp>
        <p:nvSpPr>
          <p:cNvPr id="3" name="Content Placeholder 2">
            <a:extLst>
              <a:ext uri="{FF2B5EF4-FFF2-40B4-BE49-F238E27FC236}">
                <a16:creationId xmlns:a16="http://schemas.microsoft.com/office/drawing/2014/main" id="{CC9A36B2-11DD-0994-A3C1-3B08968373DE}"/>
              </a:ext>
            </a:extLst>
          </p:cNvPr>
          <p:cNvSpPr>
            <a:spLocks noGrp="1"/>
          </p:cNvSpPr>
          <p:nvPr>
            <p:ph idx="1"/>
          </p:nvPr>
        </p:nvSpPr>
        <p:spPr>
          <a:xfrm>
            <a:off x="581192" y="1504336"/>
            <a:ext cx="11029615" cy="3962400"/>
          </a:xfrm>
        </p:spPr>
        <p:txBody>
          <a:bodyPr>
            <a:noAutofit/>
          </a:bodyPr>
          <a:lstStyle/>
          <a:p>
            <a:pPr marL="0" indent="0">
              <a:buNone/>
            </a:pPr>
            <a:br>
              <a:rPr lang="en-US" sz="20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This project develops a predictive system to estimate </a:t>
            </a:r>
            <a:r>
              <a:rPr lang="en-US" sz="2000" b="1" dirty="0">
                <a:latin typeface="Times New Roman" panose="02020603050405020304" pitchFamily="18" charset="0"/>
                <a:cs typeface="Times New Roman" panose="02020603050405020304" pitchFamily="18" charset="0"/>
              </a:rPr>
              <a:t>airline ticket prices</a:t>
            </a:r>
            <a:r>
              <a:rPr lang="en-US" sz="2000" dirty="0">
                <a:latin typeface="Times New Roman" panose="02020603050405020304" pitchFamily="18" charset="0"/>
                <a:cs typeface="Times New Roman" panose="02020603050405020304" pitchFamily="18" charset="0"/>
              </a:rPr>
              <a:t> based on flight details such as </a:t>
            </a:r>
            <a:r>
              <a:rPr lang="en-US" sz="2000" b="1" dirty="0">
                <a:latin typeface="Times New Roman" panose="02020603050405020304" pitchFamily="18" charset="0"/>
                <a:cs typeface="Times New Roman" panose="02020603050405020304" pitchFamily="18" charset="0"/>
              </a:rPr>
              <a:t>airline, source, destination, departure time, duration, stops, and travel date</a:t>
            </a:r>
            <a:r>
              <a:rPr lang="en-US" sz="2000" dirty="0">
                <a:latin typeface="Times New Roman" panose="02020603050405020304" pitchFamily="18" charset="0"/>
                <a:cs typeface="Times New Roman" panose="02020603050405020304" pitchFamily="18" charset="0"/>
              </a:rPr>
              <a:t>. The system applies </a:t>
            </a:r>
            <a:r>
              <a:rPr lang="en-US" sz="2000" b="1" dirty="0">
                <a:latin typeface="Times New Roman" panose="02020603050405020304" pitchFamily="18" charset="0"/>
                <a:cs typeface="Times New Roman" panose="02020603050405020304" pitchFamily="18" charset="0"/>
              </a:rPr>
              <a:t>machine learning (ML) and deep learning (DL)</a:t>
            </a:r>
            <a:r>
              <a:rPr lang="en-US" sz="2000" dirty="0">
                <a:latin typeface="Times New Roman" panose="02020603050405020304" pitchFamily="18" charset="0"/>
                <a:cs typeface="Times New Roman" panose="02020603050405020304" pitchFamily="18" charset="0"/>
              </a:rPr>
              <a:t> techniques to analyze patterns in historical ticket data and forecast prices. Models like </a:t>
            </a:r>
            <a:r>
              <a:rPr lang="en-US" sz="2000" b="1" dirty="0">
                <a:latin typeface="Times New Roman" panose="02020603050405020304" pitchFamily="18" charset="0"/>
                <a:cs typeface="Times New Roman" panose="02020603050405020304" pitchFamily="18" charset="0"/>
              </a:rPr>
              <a:t>Random Forest, XGBoost, and Artificial Neural Networks (ANN)</a:t>
            </a:r>
            <a:r>
              <a:rPr lang="en-US" sz="2000" dirty="0">
                <a:latin typeface="Times New Roman" panose="02020603050405020304" pitchFamily="18" charset="0"/>
                <a:cs typeface="Times New Roman" panose="02020603050405020304" pitchFamily="18" charset="0"/>
              </a:rPr>
              <a:t> are compared for accuracy and robustness. Such a system can help airlines optimize pricing strategies and assist passengers in planning cost-effective trips.</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Keywords</a:t>
            </a:r>
            <a:r>
              <a:rPr lang="en-US" sz="2000" dirty="0">
                <a:latin typeface="Times New Roman" panose="02020603050405020304" pitchFamily="18" charset="0"/>
                <a:cs typeface="Times New Roman" panose="02020603050405020304" pitchFamily="18" charset="0"/>
              </a:rPr>
              <a:t>: Flight Price, Machine Learning, Deep Learning, Prediction, Regression, Neural Networks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1990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44ABB-378D-ED53-512C-FF8E5B78A498}"/>
              </a:ext>
            </a:extLst>
          </p:cNvPr>
          <p:cNvSpPr>
            <a:spLocks noGrp="1"/>
          </p:cNvSpPr>
          <p:nvPr>
            <p:ph type="title"/>
          </p:nvPr>
        </p:nvSpPr>
        <p:spPr/>
        <p:txBody>
          <a:bodyPr/>
          <a:lstStyle/>
          <a:p>
            <a:pPr algn="ctr"/>
            <a:r>
              <a:rPr lang="en-IN" dirty="0">
                <a:solidFill>
                  <a:srgbClr val="7030A0"/>
                </a:solidFill>
              </a:rPr>
              <a:t>Introduction</a:t>
            </a:r>
          </a:p>
        </p:txBody>
      </p:sp>
      <p:sp>
        <p:nvSpPr>
          <p:cNvPr id="3" name="Content Placeholder 2">
            <a:extLst>
              <a:ext uri="{FF2B5EF4-FFF2-40B4-BE49-F238E27FC236}">
                <a16:creationId xmlns:a16="http://schemas.microsoft.com/office/drawing/2014/main" id="{3DEBB57F-1106-3A94-BA7E-0E0D3ED4B6C2}"/>
              </a:ext>
            </a:extLst>
          </p:cNvPr>
          <p:cNvSpPr>
            <a:spLocks noGrp="1"/>
          </p:cNvSpPr>
          <p:nvPr>
            <p:ph idx="1"/>
          </p:nvPr>
        </p:nvSpPr>
        <p:spPr>
          <a:xfrm>
            <a:off x="473037" y="1356853"/>
            <a:ext cx="11029615" cy="4601496"/>
          </a:xfrm>
        </p:spPr>
        <p:txBody>
          <a:bodyPr>
            <a:normAutofit/>
          </a:bodyPr>
          <a:lstStyle/>
          <a:p>
            <a:pPr marL="0" lvl="0" indent="0">
              <a:lnSpc>
                <a:spcPct val="100000"/>
              </a:lnSpc>
              <a:spcBef>
                <a:spcPts val="0"/>
              </a:spcBef>
              <a:spcAft>
                <a:spcPts val="0"/>
              </a:spcAft>
              <a:buClrTx/>
              <a:buSzTx/>
              <a:buNone/>
              <a:defRPr/>
            </a:pPr>
            <a:endParaRPr lang="en-US" sz="2000" dirty="0">
              <a:solidFill>
                <a:prstClr val="black"/>
              </a:solidFill>
              <a:latin typeface="Trebuchet MS" panose="020B0603020202020204"/>
            </a:endParaRPr>
          </a:p>
          <a:p>
            <a:pPr marL="0" lvl="0" indent="0">
              <a:lnSpc>
                <a:spcPct val="100000"/>
              </a:lnSpc>
              <a:spcBef>
                <a:spcPts val="0"/>
              </a:spcBef>
              <a:spcAft>
                <a:spcPts val="0"/>
              </a:spcAft>
              <a:buClrTx/>
              <a:buSzTx/>
              <a:buNone/>
              <a:defRPr/>
            </a:pPr>
            <a:endParaRPr lang="en-US" sz="2000" dirty="0">
              <a:solidFill>
                <a:prstClr val="black"/>
              </a:solidFill>
              <a:latin typeface="Trebuchet MS" panose="020B0603020202020204"/>
            </a:endParaRPr>
          </a:p>
          <a:p>
            <a:pPr marL="0" lvl="0" indent="0">
              <a:lnSpc>
                <a:spcPct val="100000"/>
              </a:lnSpc>
              <a:spcBef>
                <a:spcPts val="0"/>
              </a:spcBef>
              <a:spcAft>
                <a:spcPts val="0"/>
              </a:spcAft>
              <a:buClrTx/>
              <a:buSzTx/>
              <a:buNone/>
              <a:defRPr/>
            </a:pPr>
            <a:r>
              <a:rPr lang="en-US" sz="2000" dirty="0">
                <a:solidFill>
                  <a:prstClr val="black"/>
                </a:solidFill>
                <a:latin typeface="Times New Roman" panose="02020603050405020304" pitchFamily="18" charset="0"/>
                <a:cs typeface="Times New Roman" panose="02020603050405020304" pitchFamily="18" charset="0"/>
              </a:rPr>
              <a:t>The airline industry experiences high variability in flight ticket prices due to multiple dynamic factors such as travel date, booking time, number of stops, airline choice,</a:t>
            </a:r>
          </a:p>
          <a:p>
            <a:pPr marL="0" lvl="0" indent="0">
              <a:lnSpc>
                <a:spcPct val="100000"/>
              </a:lnSpc>
              <a:spcBef>
                <a:spcPts val="0"/>
              </a:spcBef>
              <a:spcAft>
                <a:spcPts val="0"/>
              </a:spcAft>
              <a:buClrTx/>
              <a:buSzTx/>
              <a:buNone/>
              <a:defRPr/>
            </a:pPr>
            <a:r>
              <a:rPr lang="en-US" sz="2000" dirty="0">
                <a:solidFill>
                  <a:prstClr val="black"/>
                </a:solidFill>
                <a:latin typeface="Times New Roman" panose="02020603050405020304" pitchFamily="18" charset="0"/>
                <a:cs typeface="Times New Roman" panose="02020603050405020304" pitchFamily="18" charset="0"/>
              </a:rPr>
              <a:t> seasonal demand, and departure-arrival patterns. This unpredictability creates significant challenges for passengers seeking to plan affordable travel and for airlines aiming to optimize pricing strategies. The absence of reliable forecasting tools makes it difficult for customers to anticipate fare changes and for travel platforms to provide competitive pricing insights.</a:t>
            </a:r>
          </a:p>
          <a:p>
            <a:pPr marL="0" lvl="0" indent="0">
              <a:lnSpc>
                <a:spcPct val="100000"/>
              </a:lnSpc>
              <a:spcBef>
                <a:spcPts val="0"/>
              </a:spcBef>
              <a:spcAft>
                <a:spcPts val="0"/>
              </a:spcAft>
              <a:buClrTx/>
              <a:buSzTx/>
              <a:buNone/>
              <a:defRPr/>
            </a:pPr>
            <a:r>
              <a:rPr lang="en-US" sz="2000" dirty="0">
                <a:solidFill>
                  <a:prstClr val="black"/>
                </a:solidFill>
                <a:latin typeface="Times New Roman" panose="02020603050405020304" pitchFamily="18" charset="0"/>
                <a:cs typeface="Times New Roman" panose="02020603050405020304" pitchFamily="18" charset="0"/>
              </a:rPr>
              <a:t>This project aims to develop a predictive model using Machine Learning and Deep Learning techniques to estimate flight ticket prices based on historical data and relevant flight features. By leveraging data-driven insights, the system seeks to assist passengers, travel agents, and airline operators in making informed booking decisions, reducing uncertainty, and enhancing transparency in fare estimation.</a:t>
            </a:r>
          </a:p>
          <a:p>
            <a:endParaRPr lang="en-IN" dirty="0"/>
          </a:p>
        </p:txBody>
      </p:sp>
    </p:spTree>
    <p:extLst>
      <p:ext uri="{BB962C8B-B14F-4D97-AF65-F5344CB8AC3E}">
        <p14:creationId xmlns:p14="http://schemas.microsoft.com/office/powerpoint/2010/main" val="2543316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70C70-4A4D-379B-A7C0-E019EA1A47FA}"/>
              </a:ext>
            </a:extLst>
          </p:cNvPr>
          <p:cNvSpPr>
            <a:spLocks noGrp="1"/>
          </p:cNvSpPr>
          <p:nvPr>
            <p:ph type="title"/>
          </p:nvPr>
        </p:nvSpPr>
        <p:spPr>
          <a:xfrm>
            <a:off x="581192" y="882650"/>
            <a:ext cx="11029616" cy="1162460"/>
          </a:xfrm>
        </p:spPr>
        <p:txBody>
          <a:bodyPr>
            <a:normAutofit/>
          </a:bodyPr>
          <a:lstStyle/>
          <a:p>
            <a:pPr algn="ctr"/>
            <a:r>
              <a:rPr lang="en-US" b="1" dirty="0">
                <a:solidFill>
                  <a:srgbClr val="7030A0"/>
                </a:solidFill>
              </a:rPr>
              <a:t>PROBLEM STATEMENT</a:t>
            </a:r>
            <a:br>
              <a:rPr lang="en-US" b="1" dirty="0"/>
            </a:br>
            <a:endParaRPr lang="en-IN" dirty="0"/>
          </a:p>
        </p:txBody>
      </p:sp>
      <p:sp>
        <p:nvSpPr>
          <p:cNvPr id="3" name="Content Placeholder 2">
            <a:extLst>
              <a:ext uri="{FF2B5EF4-FFF2-40B4-BE49-F238E27FC236}">
                <a16:creationId xmlns:a16="http://schemas.microsoft.com/office/drawing/2014/main" id="{009C79CB-20AC-3956-454A-DB390FFD7CC4}"/>
              </a:ext>
            </a:extLst>
          </p:cNvPr>
          <p:cNvSpPr>
            <a:spLocks noGrp="1"/>
          </p:cNvSpPr>
          <p:nvPr>
            <p:ph idx="1"/>
          </p:nvPr>
        </p:nvSpPr>
        <p:spPr>
          <a:xfrm>
            <a:off x="581192" y="1620253"/>
            <a:ext cx="11029615" cy="4355097"/>
          </a:xfrm>
        </p:spPr>
        <p:txBody>
          <a:bodyPr>
            <a:normAutofit fontScale="92500" lnSpcReduction="10000"/>
          </a:bodyPr>
          <a:lstStyle/>
          <a:p>
            <a:pPr marL="0" indent="0">
              <a:buNone/>
            </a:pPr>
            <a:endParaRPr lang="en-US" b="1" dirty="0"/>
          </a:p>
          <a:p>
            <a:r>
              <a:rPr lang="en-US" sz="1800" dirty="0">
                <a:latin typeface="Times New Roman" panose="02020603050405020304" pitchFamily="18" charset="0"/>
                <a:cs typeface="Times New Roman" panose="02020603050405020304" pitchFamily="18" charset="0"/>
              </a:rPr>
              <a:t>Airline ticket prices are highly </a:t>
            </a:r>
            <a:r>
              <a:rPr lang="en-US" sz="1800" b="1" dirty="0">
                <a:latin typeface="Times New Roman" panose="02020603050405020304" pitchFamily="18" charset="0"/>
                <a:cs typeface="Times New Roman" panose="02020603050405020304" pitchFamily="18" charset="0"/>
              </a:rPr>
              <a:t>dynamic and unpredictable</a:t>
            </a:r>
            <a:r>
              <a:rPr lang="en-US" sz="1800" dirty="0">
                <a:latin typeface="Times New Roman" panose="02020603050405020304" pitchFamily="18" charset="0"/>
                <a:cs typeface="Times New Roman" panose="02020603050405020304" pitchFamily="18" charset="0"/>
              </a:rPr>
              <a:t>, influenced by multiple factors such as demand, seasonality, airline policies, travel routes, holidays, and booking time. Prices can fluctuate drastically within a short period, making it difficult for passengers to identify the best time to book and for airlines to optimize their pricing strategies.</a:t>
            </a:r>
          </a:p>
          <a:p>
            <a:r>
              <a:rPr lang="en-US" sz="1800" dirty="0">
                <a:latin typeface="Times New Roman" panose="02020603050405020304" pitchFamily="18" charset="0"/>
                <a:cs typeface="Times New Roman" panose="02020603050405020304" pitchFamily="18" charset="0"/>
              </a:rPr>
              <a:t>Traditional or manual estimation methods are </a:t>
            </a:r>
            <a:r>
              <a:rPr lang="en-US" sz="1800" b="1" dirty="0">
                <a:latin typeface="Times New Roman" panose="02020603050405020304" pitchFamily="18" charset="0"/>
                <a:cs typeface="Times New Roman" panose="02020603050405020304" pitchFamily="18" charset="0"/>
              </a:rPr>
              <a:t>time-consuming, error-prone, and unreliable</a:t>
            </a:r>
            <a:r>
              <a:rPr lang="en-US" sz="1800" dirty="0">
                <a:latin typeface="Times New Roman" panose="02020603050405020304" pitchFamily="18" charset="0"/>
                <a:cs typeface="Times New Roman" panose="02020603050405020304" pitchFamily="18" charset="0"/>
              </a:rPr>
              <a:t>, as they fail to capture the complex interactions between categorical and numerical flight features. Moreover, the lack of transparency in pricing algorithms makes it even harder for travelers to plan cost-effective journeys.</a:t>
            </a:r>
          </a:p>
          <a:p>
            <a:r>
              <a:rPr lang="en-US" sz="1800" dirty="0">
                <a:latin typeface="Times New Roman" panose="02020603050405020304" pitchFamily="18" charset="0"/>
                <a:cs typeface="Times New Roman" panose="02020603050405020304" pitchFamily="18" charset="0"/>
              </a:rPr>
              <a:t>Therefore, a robust and intelligent system using </a:t>
            </a:r>
            <a:r>
              <a:rPr lang="en-US" sz="1800" b="1" dirty="0">
                <a:latin typeface="Times New Roman" panose="02020603050405020304" pitchFamily="18" charset="0"/>
                <a:cs typeface="Times New Roman" panose="02020603050405020304" pitchFamily="18" charset="0"/>
              </a:rPr>
              <a:t>Machine Learning (ML) and Deep Learning (DL)</a:t>
            </a:r>
            <a:r>
              <a:rPr lang="en-US" sz="1800" dirty="0">
                <a:latin typeface="Times New Roman" panose="02020603050405020304" pitchFamily="18" charset="0"/>
                <a:cs typeface="Times New Roman" panose="02020603050405020304" pitchFamily="18" charset="0"/>
              </a:rPr>
              <a:t> is required to analyze historical flight data, identify hidden patterns, and </a:t>
            </a:r>
            <a:r>
              <a:rPr lang="en-US" sz="1800" b="1" dirty="0">
                <a:latin typeface="Times New Roman" panose="02020603050405020304" pitchFamily="18" charset="0"/>
                <a:cs typeface="Times New Roman" panose="02020603050405020304" pitchFamily="18" charset="0"/>
              </a:rPr>
              <a:t>accurately predict flight ticket prices</a:t>
            </a:r>
            <a:r>
              <a:rPr lang="en-US" sz="1800" dirty="0">
                <a:latin typeface="Times New Roman" panose="02020603050405020304" pitchFamily="18" charset="0"/>
                <a:cs typeface="Times New Roman" panose="02020603050405020304" pitchFamily="18" charset="0"/>
              </a:rPr>
              <a:t>. Such a system can support:</a:t>
            </a:r>
          </a:p>
          <a:p>
            <a:r>
              <a:rPr lang="en-US" sz="1800" b="1" dirty="0">
                <a:latin typeface="Times New Roman" panose="02020603050405020304" pitchFamily="18" charset="0"/>
                <a:cs typeface="Times New Roman" panose="02020603050405020304" pitchFamily="18" charset="0"/>
              </a:rPr>
              <a:t>Travelers</a:t>
            </a:r>
            <a:r>
              <a:rPr lang="en-US" sz="1800" dirty="0">
                <a:latin typeface="Times New Roman" panose="02020603050405020304" pitchFamily="18" charset="0"/>
                <a:cs typeface="Times New Roman" panose="02020603050405020304" pitchFamily="18" charset="0"/>
              </a:rPr>
              <a:t> in making informed booking decisions,</a:t>
            </a:r>
          </a:p>
          <a:p>
            <a:r>
              <a:rPr lang="en-US" sz="1800" b="1" dirty="0">
                <a:latin typeface="Times New Roman" panose="02020603050405020304" pitchFamily="18" charset="0"/>
                <a:cs typeface="Times New Roman" panose="02020603050405020304" pitchFamily="18" charset="0"/>
              </a:rPr>
              <a:t>Airlines</a:t>
            </a:r>
            <a:r>
              <a:rPr lang="en-US" sz="1800" dirty="0">
                <a:latin typeface="Times New Roman" panose="02020603050405020304" pitchFamily="18" charset="0"/>
                <a:cs typeface="Times New Roman" panose="02020603050405020304" pitchFamily="18" charset="0"/>
              </a:rPr>
              <a:t> in applying efficient dynamic pricing strategies, and</a:t>
            </a:r>
          </a:p>
          <a:p>
            <a:r>
              <a:rPr lang="en-US" sz="1800" b="1" dirty="0">
                <a:latin typeface="Times New Roman" panose="02020603050405020304" pitchFamily="18" charset="0"/>
                <a:cs typeface="Times New Roman" panose="02020603050405020304" pitchFamily="18" charset="0"/>
              </a:rPr>
              <a:t>Travel platforms</a:t>
            </a:r>
            <a:r>
              <a:rPr lang="en-US" sz="1800" dirty="0">
                <a:latin typeface="Times New Roman" panose="02020603050405020304" pitchFamily="18" charset="0"/>
                <a:cs typeface="Times New Roman" panose="02020603050405020304" pitchFamily="18" charset="0"/>
              </a:rPr>
              <a:t> in enhancing recommendation systems for customers.</a:t>
            </a:r>
          </a:p>
          <a:p>
            <a:endParaRPr lang="en-IN" dirty="0"/>
          </a:p>
        </p:txBody>
      </p:sp>
    </p:spTree>
    <p:extLst>
      <p:ext uri="{BB962C8B-B14F-4D97-AF65-F5344CB8AC3E}">
        <p14:creationId xmlns:p14="http://schemas.microsoft.com/office/powerpoint/2010/main" val="100087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F5DF1-18B0-88BE-01A9-0FA07FD58B2A}"/>
              </a:ext>
            </a:extLst>
          </p:cNvPr>
          <p:cNvSpPr>
            <a:spLocks noGrp="1"/>
          </p:cNvSpPr>
          <p:nvPr>
            <p:ph type="title"/>
          </p:nvPr>
        </p:nvSpPr>
        <p:spPr>
          <a:xfrm>
            <a:off x="581192" y="1160206"/>
            <a:ext cx="11029616" cy="678426"/>
          </a:xfrm>
        </p:spPr>
        <p:txBody>
          <a:bodyPr/>
          <a:lstStyle/>
          <a:p>
            <a:pPr algn="ctr"/>
            <a:r>
              <a:rPr lang="en-IN" dirty="0">
                <a:solidFill>
                  <a:srgbClr val="7030A0"/>
                </a:solidFill>
              </a:rPr>
              <a:t>Objectives</a:t>
            </a:r>
          </a:p>
        </p:txBody>
      </p:sp>
      <p:sp>
        <p:nvSpPr>
          <p:cNvPr id="3" name="Content Placeholder 2">
            <a:extLst>
              <a:ext uri="{FF2B5EF4-FFF2-40B4-BE49-F238E27FC236}">
                <a16:creationId xmlns:a16="http://schemas.microsoft.com/office/drawing/2014/main" id="{EEC67CBB-0E31-1EA2-0878-6C86FAC9B04E}"/>
              </a:ext>
            </a:extLst>
          </p:cNvPr>
          <p:cNvSpPr>
            <a:spLocks noGrp="1"/>
          </p:cNvSpPr>
          <p:nvPr>
            <p:ph idx="1"/>
          </p:nvPr>
        </p:nvSpPr>
        <p:spPr>
          <a:xfrm>
            <a:off x="581192" y="2163096"/>
            <a:ext cx="11029615" cy="3900744"/>
          </a:xfrm>
        </p:spPr>
        <p:txBody>
          <a:bodyPr>
            <a:noAutofit/>
          </a:bodyPr>
          <a:lstStyle/>
          <a:p>
            <a:pPr algn="ctr">
              <a:buNone/>
            </a:pPr>
            <a:endParaRPr lang="en-US" sz="2000" dirty="0"/>
          </a:p>
          <a:p>
            <a:pPr>
              <a:buFont typeface="Wingdings" panose="05000000000000000000" pitchFamily="2" charset="2"/>
              <a:buChar char="§"/>
            </a:pPr>
            <a:endParaRPr lang="en-US" sz="2000" dirty="0"/>
          </a:p>
          <a:p>
            <a:pPr>
              <a:buFont typeface="Wingdings" panose="05000000000000000000" pitchFamily="2" charset="2"/>
              <a:buChar char="§"/>
            </a:pPr>
            <a:r>
              <a:rPr lang="en-US" sz="2000" dirty="0"/>
              <a:t> Build a system to predict flight ticket prices accurately using machine learning and deep learning techniques based on historical flight data.</a:t>
            </a:r>
          </a:p>
          <a:p>
            <a:pPr>
              <a:buFont typeface="Wingdings" panose="05000000000000000000" pitchFamily="2" charset="2"/>
              <a:buChar char="§"/>
            </a:pPr>
            <a:r>
              <a:rPr lang="en-US" sz="2000" dirty="0"/>
              <a:t> Assist travelers and airlines in making informed decisions by providing data-driven insights into ticket pricing trends.</a:t>
            </a:r>
          </a:p>
          <a:p>
            <a:pPr>
              <a:buFont typeface="Wingdings" panose="05000000000000000000" pitchFamily="2" charset="2"/>
              <a:buChar char="§"/>
            </a:pPr>
            <a:r>
              <a:rPr lang="en-US" sz="2000" dirty="0"/>
              <a:t> Identify key factors (airline, departure time, duration, stops, source, destination, seasonality, etc.) influencing ticket price variations.</a:t>
            </a:r>
          </a:p>
          <a:p>
            <a:pPr>
              <a:buFont typeface="Wingdings" panose="05000000000000000000" pitchFamily="2" charset="2"/>
              <a:buChar char="§"/>
            </a:pPr>
            <a:r>
              <a:rPr lang="en-US" sz="2000" dirty="0"/>
              <a:t>Provide timely and reliable predictions to help customers plan travel and airlines optimize pricing strategies.</a:t>
            </a:r>
          </a:p>
          <a:p>
            <a:pPr>
              <a:buFont typeface="Wingdings" panose="05000000000000000000" pitchFamily="2" charset="2"/>
              <a:buChar char="§"/>
            </a:pPr>
            <a:r>
              <a:rPr lang="en-US" sz="2000" dirty="0"/>
              <a:t> Highlight patterns and trends in ticket pricing to improve demand forecasting and risk management in the aviation industry.</a:t>
            </a:r>
          </a:p>
          <a:p>
            <a:endParaRPr lang="en-IN" sz="2000" dirty="0"/>
          </a:p>
        </p:txBody>
      </p:sp>
    </p:spTree>
    <p:extLst>
      <p:ext uri="{BB962C8B-B14F-4D97-AF65-F5344CB8AC3E}">
        <p14:creationId xmlns:p14="http://schemas.microsoft.com/office/powerpoint/2010/main" val="4020752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34995-5303-811D-08A0-2F2D88C88556}"/>
              </a:ext>
            </a:extLst>
          </p:cNvPr>
          <p:cNvSpPr>
            <a:spLocks noGrp="1"/>
          </p:cNvSpPr>
          <p:nvPr>
            <p:ph type="title"/>
          </p:nvPr>
        </p:nvSpPr>
        <p:spPr>
          <a:xfrm>
            <a:off x="581192" y="1022554"/>
            <a:ext cx="11029616" cy="1258530"/>
          </a:xfrm>
        </p:spPr>
        <p:txBody>
          <a:bodyPr>
            <a:normAutofit/>
          </a:bodyPr>
          <a:lstStyle/>
          <a:p>
            <a:pPr algn="ctr"/>
            <a:r>
              <a:rPr lang="en-US" b="1" dirty="0">
                <a:solidFill>
                  <a:srgbClr val="7030A0"/>
                </a:solidFill>
              </a:rPr>
              <a:t>IMPORTANCE</a:t>
            </a:r>
            <a:br>
              <a:rPr lang="en-US" b="1" dirty="0"/>
            </a:br>
            <a:endParaRPr lang="en-IN" dirty="0"/>
          </a:p>
        </p:txBody>
      </p:sp>
      <p:sp>
        <p:nvSpPr>
          <p:cNvPr id="3" name="Content Placeholder 2">
            <a:extLst>
              <a:ext uri="{FF2B5EF4-FFF2-40B4-BE49-F238E27FC236}">
                <a16:creationId xmlns:a16="http://schemas.microsoft.com/office/drawing/2014/main" id="{A24E8C5B-7632-F4EE-9DC0-47C70D01DD08}"/>
              </a:ext>
            </a:extLst>
          </p:cNvPr>
          <p:cNvSpPr>
            <a:spLocks noGrp="1"/>
          </p:cNvSpPr>
          <p:nvPr>
            <p:ph idx="1"/>
          </p:nvPr>
        </p:nvSpPr>
        <p:spPr>
          <a:xfrm>
            <a:off x="581192" y="1337187"/>
            <a:ext cx="11029615" cy="4638163"/>
          </a:xfrm>
        </p:spPr>
        <p:txBody>
          <a:bodyPr/>
          <a:lstStyle/>
          <a:p>
            <a:r>
              <a:rPr lang="en-US" sz="2000" dirty="0"/>
              <a:t>This system benefits multiple stakeholders by:</a:t>
            </a:r>
          </a:p>
          <a:p>
            <a:r>
              <a:rPr lang="en-US" sz="2000" b="1" dirty="0"/>
              <a:t>Passengers</a:t>
            </a:r>
            <a:r>
              <a:rPr lang="en-US" sz="2000" dirty="0"/>
              <a:t>: Helping travelers find the right time and airline for cheaper fares.</a:t>
            </a:r>
          </a:p>
          <a:p>
            <a:r>
              <a:rPr lang="en-US" sz="2000" b="1" dirty="0"/>
              <a:t>Airlines</a:t>
            </a:r>
            <a:r>
              <a:rPr lang="en-US" sz="2000" dirty="0"/>
              <a:t>: Improving dynamic pricing and customer retention.</a:t>
            </a:r>
          </a:p>
          <a:p>
            <a:r>
              <a:rPr lang="en-US" sz="2000" b="1" dirty="0"/>
              <a:t>Travel Platforms</a:t>
            </a:r>
            <a:r>
              <a:rPr lang="en-US" sz="2000" dirty="0"/>
              <a:t>: Enhancing recommendation systems.</a:t>
            </a:r>
          </a:p>
          <a:p>
            <a:r>
              <a:rPr lang="en-US" sz="2000" b="1" dirty="0"/>
              <a:t>Researchers</a:t>
            </a:r>
            <a:r>
              <a:rPr lang="en-US" sz="2000" dirty="0"/>
              <a:t>: Showcasing the use of ML/DL for real-world predictive analytics</a:t>
            </a:r>
            <a:r>
              <a:rPr lang="en-US" dirty="0"/>
              <a:t>.</a:t>
            </a:r>
          </a:p>
          <a:p>
            <a:endParaRPr lang="en-IN" dirty="0"/>
          </a:p>
        </p:txBody>
      </p:sp>
    </p:spTree>
    <p:extLst>
      <p:ext uri="{BB962C8B-B14F-4D97-AF65-F5344CB8AC3E}">
        <p14:creationId xmlns:p14="http://schemas.microsoft.com/office/powerpoint/2010/main" val="2110660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F217D-E6FA-490F-8C73-5AE4019F7EE5}"/>
              </a:ext>
            </a:extLst>
          </p:cNvPr>
          <p:cNvSpPr>
            <a:spLocks noGrp="1"/>
          </p:cNvSpPr>
          <p:nvPr>
            <p:ph type="title"/>
          </p:nvPr>
        </p:nvSpPr>
        <p:spPr/>
        <p:txBody>
          <a:bodyPr/>
          <a:lstStyle/>
          <a:p>
            <a:pPr algn="ctr"/>
            <a:r>
              <a:rPr lang="en-GB" b="1" dirty="0">
                <a:solidFill>
                  <a:srgbClr val="7030A0"/>
                </a:solidFill>
                <a:latin typeface="Times New Roman" panose="02020603050405020304" pitchFamily="18" charset="0"/>
                <a:cs typeface="Times New Roman" panose="02020603050405020304" pitchFamily="18" charset="0"/>
              </a:rPr>
              <a:t>HARDWARE REQUIREMENTS</a:t>
            </a:r>
            <a:br>
              <a:rPr lang="en-GB"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EC51BC3-46E4-2536-B282-A1F293AE4BBA}"/>
              </a:ext>
            </a:extLst>
          </p:cNvPr>
          <p:cNvSpPr>
            <a:spLocks noGrp="1"/>
          </p:cNvSpPr>
          <p:nvPr>
            <p:ph idx="1"/>
          </p:nvPr>
        </p:nvSpPr>
        <p:spPr>
          <a:xfrm>
            <a:off x="581192" y="1540042"/>
            <a:ext cx="11029615" cy="4435308"/>
          </a:xfrm>
        </p:spPr>
        <p:txBody>
          <a:bodyPr>
            <a:normAutofit fontScale="25000" lnSpcReduction="20000"/>
          </a:bodyPr>
          <a:lstStyle/>
          <a:p>
            <a:endParaRPr lang="en-IN" sz="2000" b="1" dirty="0"/>
          </a:p>
          <a:p>
            <a:endParaRPr lang="en-IN" b="1" dirty="0"/>
          </a:p>
          <a:p>
            <a:endParaRPr lang="en-IN" sz="8000" b="1" dirty="0"/>
          </a:p>
          <a:p>
            <a:r>
              <a:rPr lang="en-IN" sz="8000" b="1" dirty="0"/>
              <a:t>Processor:</a:t>
            </a:r>
            <a:r>
              <a:rPr lang="en-IN" sz="8000" dirty="0"/>
              <a:t> Intel Core i7/ AMD Ryzen7 or better</a:t>
            </a:r>
            <a:br>
              <a:rPr lang="en-IN" sz="8000" dirty="0"/>
            </a:br>
            <a:r>
              <a:rPr lang="en-IN" sz="8000" i="1" dirty="0"/>
              <a:t>Reason:</a:t>
            </a:r>
            <a:r>
              <a:rPr lang="en-IN" sz="8000" dirty="0"/>
              <a:t> Required for running machine learning and deep learning models efficiently.</a:t>
            </a:r>
          </a:p>
          <a:p>
            <a:r>
              <a:rPr lang="en-IN" sz="8000" b="1" dirty="0"/>
              <a:t>RAM:</a:t>
            </a:r>
            <a:r>
              <a:rPr lang="en-IN" sz="8000" dirty="0"/>
              <a:t> Minimum 8 GB (Recommended: 16 GB)</a:t>
            </a:r>
            <a:br>
              <a:rPr lang="en-IN" sz="8000" dirty="0"/>
            </a:br>
            <a:r>
              <a:rPr lang="en-IN" sz="8000" i="1" dirty="0"/>
              <a:t>Reason:</a:t>
            </a:r>
            <a:r>
              <a:rPr lang="en-IN" sz="8000" dirty="0"/>
              <a:t> To handle data preprocessing, model training, and visualization smoothly.</a:t>
            </a:r>
          </a:p>
          <a:p>
            <a:r>
              <a:rPr lang="en-IN" sz="8000" b="1" dirty="0"/>
              <a:t>Storage:</a:t>
            </a:r>
            <a:r>
              <a:rPr lang="en-IN" sz="8000" dirty="0"/>
              <a:t> At least 256 GB SSD</a:t>
            </a:r>
            <a:br>
              <a:rPr lang="en-IN" sz="8000" dirty="0"/>
            </a:br>
            <a:r>
              <a:rPr lang="en-IN" sz="8000" i="1" dirty="0"/>
              <a:t>Reason:</a:t>
            </a:r>
            <a:r>
              <a:rPr lang="en-IN" sz="8000" dirty="0"/>
              <a:t> For storing datasets (CSV/images), models, logs, and software libraries.</a:t>
            </a:r>
          </a:p>
          <a:p>
            <a:r>
              <a:rPr lang="en-IN" sz="8000" b="1" dirty="0"/>
              <a:t>Internet Connection:</a:t>
            </a:r>
            <a:r>
              <a:rPr lang="en-IN" sz="8000" dirty="0"/>
              <a:t>  Stable Internet is Required for Installing libraries via pip</a:t>
            </a:r>
          </a:p>
          <a:p>
            <a:pPr lvl="1"/>
            <a:r>
              <a:rPr lang="en-IN" sz="8000" dirty="0"/>
              <a:t>Accessing </a:t>
            </a:r>
            <a:r>
              <a:rPr lang="en-IN" sz="8000" dirty="0" err="1"/>
              <a:t>Jupyter</a:t>
            </a:r>
            <a:r>
              <a:rPr lang="en-IN" sz="8000" dirty="0"/>
              <a:t>/Google </a:t>
            </a:r>
            <a:r>
              <a:rPr lang="en-IN" sz="8000" dirty="0" err="1"/>
              <a:t>Colab</a:t>
            </a:r>
            <a:r>
              <a:rPr lang="en-IN" sz="8000" dirty="0"/>
              <a:t>/Streamlit (optional for deployment)</a:t>
            </a:r>
          </a:p>
          <a:p>
            <a:pPr algn="just">
              <a:lnSpc>
                <a:spcPct val="150000"/>
              </a:lnSpc>
            </a:pPr>
            <a:r>
              <a:rPr lang="en-US" sz="8000" b="1" dirty="0"/>
              <a:t>Display : </a:t>
            </a:r>
            <a:r>
              <a:rPr lang="en-US" sz="8000" dirty="0"/>
              <a:t>Full HD Monitor (1920x1080) or higher resolution </a:t>
            </a:r>
            <a:r>
              <a:rPr lang="en-US" sz="8000" i="1" dirty="0"/>
              <a:t>Reason:</a:t>
            </a:r>
            <a:r>
              <a:rPr lang="en-US" sz="8000" dirty="0"/>
              <a:t> Ensures better visibility for coding, data visualization, and working with large datasets or notebooks.</a:t>
            </a:r>
            <a:endParaRPr lang="en-GB" sz="8000"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96272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432B3-D1B0-2B5E-3488-04667B4CBCCD}"/>
              </a:ext>
            </a:extLst>
          </p:cNvPr>
          <p:cNvSpPr>
            <a:spLocks noGrp="1"/>
          </p:cNvSpPr>
          <p:nvPr>
            <p:ph type="title"/>
          </p:nvPr>
        </p:nvSpPr>
        <p:spPr/>
        <p:txBody>
          <a:bodyPr/>
          <a:lstStyle/>
          <a:p>
            <a:pPr algn="ctr"/>
            <a:r>
              <a:rPr lang="en-GB" b="1" dirty="0">
                <a:solidFill>
                  <a:srgbClr val="7030A0"/>
                </a:solidFill>
                <a:latin typeface="Times New Roman" panose="02020603050405020304" pitchFamily="18" charset="0"/>
                <a:cs typeface="Times New Roman" panose="02020603050405020304" pitchFamily="18" charset="0"/>
              </a:rPr>
              <a:t>SOFTWARE REQUIREMENTS</a:t>
            </a:r>
            <a:br>
              <a:rPr lang="en-GB" b="1" dirty="0">
                <a:latin typeface="Times New Roman" panose="02020603050405020304" pitchFamily="18" charset="0"/>
                <a:cs typeface="Times New Roman" panose="02020603050405020304" pitchFamily="18" charset="0"/>
              </a:rPr>
            </a:br>
            <a:endParaRPr lang="en-IN" dirty="0"/>
          </a:p>
        </p:txBody>
      </p:sp>
      <p:sp>
        <p:nvSpPr>
          <p:cNvPr id="6" name="Content Placeholder 5">
            <a:extLst>
              <a:ext uri="{FF2B5EF4-FFF2-40B4-BE49-F238E27FC236}">
                <a16:creationId xmlns:a16="http://schemas.microsoft.com/office/drawing/2014/main" id="{B71B97C5-B1CC-5D1C-4AA1-7A7756994EDD}"/>
              </a:ext>
            </a:extLst>
          </p:cNvPr>
          <p:cNvSpPr>
            <a:spLocks noGrp="1"/>
          </p:cNvSpPr>
          <p:nvPr>
            <p:ph idx="1"/>
          </p:nvPr>
        </p:nvSpPr>
        <p:spPr>
          <a:xfrm>
            <a:off x="581193" y="1769806"/>
            <a:ext cx="5993883" cy="4768646"/>
          </a:xfrm>
        </p:spPr>
        <p:txBody>
          <a:bodyPr>
            <a:normAutofit fontScale="92500" lnSpcReduction="10000"/>
          </a:bodyPr>
          <a:lstStyle/>
          <a:p>
            <a:pPr marL="342900" indent="-342900" algn="just">
              <a:lnSpc>
                <a:spcPct val="150000"/>
              </a:lnSpc>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  Operating System:  </a:t>
            </a:r>
            <a:r>
              <a:rPr lang="en-US" sz="2000" dirty="0">
                <a:latin typeface="Times New Roman" panose="02020603050405020304" pitchFamily="18" charset="0"/>
                <a:cs typeface="Times New Roman" panose="02020603050405020304" pitchFamily="18" charset="0"/>
              </a:rPr>
              <a:t>Windows, macOS, or Linux</a:t>
            </a:r>
          </a:p>
          <a:p>
            <a:pPr>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Python Version:   </a:t>
            </a:r>
            <a:r>
              <a:rPr lang="en-US" sz="2000" dirty="0">
                <a:latin typeface="Times New Roman" panose="02020603050405020304" pitchFamily="18" charset="0"/>
                <a:cs typeface="Times New Roman" panose="02020603050405020304" pitchFamily="18" charset="0"/>
              </a:rPr>
              <a:t>Python 3.8 or higher</a:t>
            </a:r>
          </a:p>
          <a:p>
            <a:pPr marL="0" indent="0" algn="just">
              <a:lnSpc>
                <a:spcPct val="150000"/>
              </a:lnSpc>
              <a:buNone/>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Libraries:</a:t>
            </a:r>
            <a:r>
              <a:rPr lang="en-IN" sz="2000" dirty="0">
                <a:latin typeface="Times New Roman" panose="02020603050405020304" pitchFamily="18" charset="0"/>
                <a:cs typeface="Times New Roman" panose="02020603050405020304" pitchFamily="18" charset="0"/>
              </a:rPr>
              <a:t>Pandas,Numpy,Scikitlearn,xgboost,matplotlib, seaborn,fastapi,streamlit</a:t>
            </a:r>
          </a:p>
          <a:p>
            <a:pPr>
              <a:buFont typeface="Wingdings" panose="05000000000000000000" pitchFamily="2" charset="2"/>
              <a:buChar char="§"/>
            </a:pPr>
            <a:r>
              <a:rPr lang="en-IN" sz="2000" b="1" dirty="0">
                <a:latin typeface="Times New Roman" panose="02020603050405020304" pitchFamily="18" charset="0"/>
                <a:cs typeface="Times New Roman" panose="02020603050405020304" pitchFamily="18" charset="0"/>
              </a:rPr>
              <a:t> Development Tools</a:t>
            </a:r>
            <a:r>
              <a:rPr lang="en-IN" sz="2000" dirty="0">
                <a:latin typeface="Times New Roman" panose="02020603050405020304" pitchFamily="18" charset="0"/>
                <a:cs typeface="Times New Roman" panose="02020603050405020304" pitchFamily="18" charset="0"/>
              </a:rPr>
              <a:t>: Code Editor:Visual Studio Code or Jupiter Notebook</a:t>
            </a:r>
            <a:r>
              <a:rPr lang="en-US" sz="2000" dirty="0">
                <a:latin typeface="Times New Roman" panose="02020603050405020304" pitchFamily="18" charset="0"/>
                <a:cs typeface="Times New Roman" panose="02020603050405020304" pitchFamily="18" charset="0"/>
              </a:rPr>
              <a:t> , Web Browser: Modern browser to access Stream lit app</a:t>
            </a:r>
          </a:p>
          <a:p>
            <a:pPr>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sz="2000" b="1" dirty="0">
                <a:latin typeface="Times New Roman" panose="02020603050405020304" pitchFamily="18" charset="0"/>
                <a:cs typeface="Times New Roman" panose="02020603050405020304" pitchFamily="18" charset="0"/>
              </a:rPr>
              <a:t>  Server Requirement:</a:t>
            </a:r>
            <a:r>
              <a:rPr lang="en-IN" sz="2000" dirty="0">
                <a:latin typeface="Times New Roman" panose="02020603050405020304" pitchFamily="18" charset="0"/>
                <a:cs typeface="Times New Roman" panose="02020603050405020304" pitchFamily="18" charset="0"/>
              </a:rPr>
              <a:t>   Fast API server</a:t>
            </a:r>
            <a:endParaRPr lang="en-IN" sz="2000" dirty="0"/>
          </a:p>
          <a:p>
            <a:endParaRPr lang="en-IN" dirty="0"/>
          </a:p>
        </p:txBody>
      </p:sp>
      <p:pic>
        <p:nvPicPr>
          <p:cNvPr id="3" name="Picture 2">
            <a:extLst>
              <a:ext uri="{FF2B5EF4-FFF2-40B4-BE49-F238E27FC236}">
                <a16:creationId xmlns:a16="http://schemas.microsoft.com/office/drawing/2014/main" id="{E5C148AF-2871-AE65-D14D-92C7CEEB535A}"/>
              </a:ext>
            </a:extLst>
          </p:cNvPr>
          <p:cNvPicPr>
            <a:picLocks noChangeAspect="1"/>
          </p:cNvPicPr>
          <p:nvPr/>
        </p:nvPicPr>
        <p:blipFill>
          <a:blip r:embed="rId2"/>
          <a:stretch>
            <a:fillRect/>
          </a:stretch>
        </p:blipFill>
        <p:spPr>
          <a:xfrm>
            <a:off x="6498314" y="1890876"/>
            <a:ext cx="5035732" cy="4264968"/>
          </a:xfrm>
          <a:prstGeom prst="rect">
            <a:avLst/>
          </a:prstGeom>
        </p:spPr>
      </p:pic>
    </p:spTree>
    <p:extLst>
      <p:ext uri="{BB962C8B-B14F-4D97-AF65-F5344CB8AC3E}">
        <p14:creationId xmlns:p14="http://schemas.microsoft.com/office/powerpoint/2010/main" val="1304931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D9C49-15AD-026F-6599-57C8A47C1086}"/>
              </a:ext>
            </a:extLst>
          </p:cNvPr>
          <p:cNvSpPr>
            <a:spLocks noGrp="1"/>
          </p:cNvSpPr>
          <p:nvPr>
            <p:ph type="title"/>
          </p:nvPr>
        </p:nvSpPr>
        <p:spPr>
          <a:xfrm>
            <a:off x="581192" y="702156"/>
            <a:ext cx="11029616" cy="1293792"/>
          </a:xfrm>
        </p:spPr>
        <p:txBody>
          <a:bodyPr/>
          <a:lstStyle/>
          <a:p>
            <a:pPr algn="ctr"/>
            <a:r>
              <a:rPr lang="en-US" b="1" dirty="0">
                <a:solidFill>
                  <a:srgbClr val="7030A0"/>
                </a:solidFill>
                <a:latin typeface="Times New Roman" panose="02020603050405020304" pitchFamily="18" charset="0"/>
                <a:cs typeface="Times New Roman" panose="02020603050405020304" pitchFamily="18" charset="0"/>
              </a:rPr>
              <a:t>LITERATURE SURVEY</a:t>
            </a:r>
            <a:br>
              <a:rPr lang="en-US" b="1" dirty="0"/>
            </a:br>
            <a:endParaRPr lang="en-IN" dirty="0"/>
          </a:p>
        </p:txBody>
      </p:sp>
      <p:sp>
        <p:nvSpPr>
          <p:cNvPr id="3" name="Content Placeholder 2">
            <a:extLst>
              <a:ext uri="{FF2B5EF4-FFF2-40B4-BE49-F238E27FC236}">
                <a16:creationId xmlns:a16="http://schemas.microsoft.com/office/drawing/2014/main" id="{8880A9AD-B53F-0005-FF24-B8D067AEB818}"/>
              </a:ext>
            </a:extLst>
          </p:cNvPr>
          <p:cNvSpPr>
            <a:spLocks noGrp="1"/>
          </p:cNvSpPr>
          <p:nvPr>
            <p:ph idx="1"/>
          </p:nvPr>
        </p:nvSpPr>
        <p:spPr>
          <a:xfrm>
            <a:off x="581192" y="1890875"/>
            <a:ext cx="11029615" cy="4606177"/>
          </a:xfrm>
        </p:spPr>
        <p:txBody>
          <a:bodyPr>
            <a:normAutofit fontScale="77500" lnSpcReduction="20000"/>
          </a:bodyPr>
          <a:lstStyle/>
          <a:p>
            <a:pPr marL="0" indent="0">
              <a:buNone/>
            </a:pPr>
            <a:r>
              <a:rPr lang="en-US" sz="2200" b="1" dirty="0">
                <a:latin typeface="Times New Roman" panose="02020603050405020304" pitchFamily="18" charset="0"/>
                <a:cs typeface="Times New Roman" panose="02020603050405020304" pitchFamily="18" charset="0"/>
              </a:rPr>
              <a:t> Key Studies:</a:t>
            </a: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ML models (Random Forest, XGBoost) applied for airline ticket price prediction.</a:t>
            </a:r>
          </a:p>
          <a:p>
            <a:pPr>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Time-series forecasting methods (ARIMA, LSTM) used for capturing temporal price fluctuations.</a:t>
            </a:r>
          </a:p>
          <a:p>
            <a:pPr>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Deep Learning models (ANN, RNN, LSTM) improving accuracy by handling non-linear features.</a:t>
            </a:r>
          </a:p>
          <a:p>
            <a:pPr>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Hybrid ML-DL approaches combining feature engineering with neural networks.</a:t>
            </a:r>
          </a:p>
          <a:p>
            <a:pPr marL="0" indent="0">
              <a:buNone/>
            </a:pPr>
            <a:r>
              <a:rPr lang="en-US" sz="2200" b="1" dirty="0">
                <a:latin typeface="Times New Roman" panose="02020603050405020304" pitchFamily="18" charset="0"/>
                <a:cs typeface="Times New Roman" panose="02020603050405020304" pitchFamily="18" charset="0"/>
              </a:rPr>
              <a:t> Gaps:</a:t>
            </a: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Limited integration of real-time airline API data.</a:t>
            </a:r>
          </a:p>
          <a:p>
            <a:pPr>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Few studies address </a:t>
            </a:r>
            <a:r>
              <a:rPr lang="en-US" sz="2200" b="1" dirty="0">
                <a:latin typeface="Times New Roman" panose="02020603050405020304" pitchFamily="18" charset="0"/>
                <a:cs typeface="Times New Roman" panose="02020603050405020304" pitchFamily="18" charset="0"/>
              </a:rPr>
              <a:t>seasonality, holidays, and demand surges</a:t>
            </a:r>
            <a:r>
              <a:rPr lang="en-US" sz="2200" dirty="0">
                <a:latin typeface="Times New Roman" panose="02020603050405020304" pitchFamily="18" charset="0"/>
                <a:cs typeface="Times New Roman" panose="02020603050405020304" pitchFamily="18" charset="0"/>
              </a:rPr>
              <a:t> effectively.</a:t>
            </a:r>
          </a:p>
          <a:p>
            <a:pPr>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Model explainability and interpretability often lacking.</a:t>
            </a:r>
          </a:p>
          <a:p>
            <a:pPr>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Deep learning models computationally expensive for large datasets.</a:t>
            </a:r>
          </a:p>
          <a:p>
            <a:pPr marL="0" indent="0">
              <a:buNone/>
            </a:pPr>
            <a:r>
              <a:rPr lang="en-US" sz="2200" b="1" dirty="0">
                <a:latin typeface="Times New Roman" panose="02020603050405020304" pitchFamily="18" charset="0"/>
                <a:cs typeface="Times New Roman" panose="02020603050405020304" pitchFamily="18" charset="0"/>
              </a:rPr>
              <a:t>Contribution: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comprehensive </a:t>
            </a:r>
            <a:r>
              <a:rPr lang="en-US" sz="2200" b="1" dirty="0">
                <a:latin typeface="Times New Roman" panose="02020603050405020304" pitchFamily="18" charset="0"/>
                <a:cs typeface="Times New Roman" panose="02020603050405020304" pitchFamily="18" charset="0"/>
              </a:rPr>
              <a:t>ML + DL framework</a:t>
            </a:r>
            <a:r>
              <a:rPr lang="en-US" sz="2200" dirty="0">
                <a:latin typeface="Times New Roman" panose="02020603050405020304" pitchFamily="18" charset="0"/>
                <a:cs typeface="Times New Roman" panose="02020603050405020304" pitchFamily="18" charset="0"/>
              </a:rPr>
              <a:t> for predicting flight ticket prices with high accuracy, capturing both categorical and temporal features, and providing a scalable solution for deployment.</a:t>
            </a:r>
          </a:p>
          <a:p>
            <a:endParaRPr lang="en-IN" dirty="0"/>
          </a:p>
        </p:txBody>
      </p:sp>
    </p:spTree>
    <p:extLst>
      <p:ext uri="{BB962C8B-B14F-4D97-AF65-F5344CB8AC3E}">
        <p14:creationId xmlns:p14="http://schemas.microsoft.com/office/powerpoint/2010/main" val="3027176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14AD2-6779-81DF-E319-172B932D05A7}"/>
              </a:ext>
            </a:extLst>
          </p:cNvPr>
          <p:cNvSpPr>
            <a:spLocks noGrp="1"/>
          </p:cNvSpPr>
          <p:nvPr>
            <p:ph type="title"/>
          </p:nvPr>
        </p:nvSpPr>
        <p:spPr>
          <a:xfrm>
            <a:off x="581192" y="702156"/>
            <a:ext cx="11029616" cy="723521"/>
          </a:xfrm>
        </p:spPr>
        <p:txBody>
          <a:bodyPr/>
          <a:lstStyle/>
          <a:p>
            <a:pPr algn="ctr"/>
            <a:r>
              <a:rPr lang="en-IN" dirty="0">
                <a:solidFill>
                  <a:srgbClr val="7030A0"/>
                </a:solidFill>
              </a:rPr>
              <a:t>methodology</a:t>
            </a:r>
          </a:p>
        </p:txBody>
      </p:sp>
      <p:pic>
        <p:nvPicPr>
          <p:cNvPr id="8" name="Content Placeholder 7" descr="A diagram of data processing">
            <a:extLst>
              <a:ext uri="{FF2B5EF4-FFF2-40B4-BE49-F238E27FC236}">
                <a16:creationId xmlns:a16="http://schemas.microsoft.com/office/drawing/2014/main" id="{3AE243DC-79A0-8174-BD1D-23A438FD61BE}"/>
              </a:ext>
            </a:extLst>
          </p:cNvPr>
          <p:cNvPicPr>
            <a:picLocks noGrp="1" noChangeAspect="1"/>
          </p:cNvPicPr>
          <p:nvPr>
            <p:ph idx="1"/>
          </p:nvPr>
        </p:nvPicPr>
        <p:blipFill>
          <a:blip r:embed="rId2"/>
          <a:srcRect b="9925"/>
          <a:stretch>
            <a:fillRect/>
          </a:stretch>
        </p:blipFill>
        <p:spPr>
          <a:xfrm>
            <a:off x="904568" y="1504335"/>
            <a:ext cx="10068232" cy="5181600"/>
          </a:xfrm>
        </p:spPr>
      </p:pic>
    </p:spTree>
    <p:extLst>
      <p:ext uri="{BB962C8B-B14F-4D97-AF65-F5344CB8AC3E}">
        <p14:creationId xmlns:p14="http://schemas.microsoft.com/office/powerpoint/2010/main" val="4173364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D0283-F1C0-2370-8CB7-2775B6F5AEC9}"/>
              </a:ext>
            </a:extLst>
          </p:cNvPr>
          <p:cNvSpPr>
            <a:spLocks noGrp="1"/>
          </p:cNvSpPr>
          <p:nvPr>
            <p:ph type="title"/>
          </p:nvPr>
        </p:nvSpPr>
        <p:spPr>
          <a:xfrm>
            <a:off x="581192" y="702155"/>
            <a:ext cx="11029616" cy="1411779"/>
          </a:xfrm>
        </p:spPr>
        <p:txBody>
          <a:bodyPr/>
          <a:lstStyle/>
          <a:p>
            <a:pPr algn="ctr"/>
            <a:r>
              <a:rPr lang="en-US" b="1" dirty="0">
                <a:solidFill>
                  <a:srgbClr val="7030A0"/>
                </a:solidFill>
                <a:latin typeface="Times New Roman" panose="02020603050405020304" pitchFamily="18" charset="0"/>
                <a:cs typeface="Times New Roman" panose="02020603050405020304" pitchFamily="18" charset="0"/>
              </a:rPr>
              <a:t>Dataset collection and DESCRIPTION</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5F48299-6FC5-4772-C54D-50366EECF63C}"/>
              </a:ext>
            </a:extLst>
          </p:cNvPr>
          <p:cNvSpPr>
            <a:spLocks noGrp="1"/>
          </p:cNvSpPr>
          <p:nvPr>
            <p:ph idx="1"/>
          </p:nvPr>
        </p:nvSpPr>
        <p:spPr/>
        <p:txBody>
          <a:bodyPr>
            <a:normAutofit fontScale="25000" lnSpcReduction="20000"/>
          </a:bodyPr>
          <a:lstStyle/>
          <a:p>
            <a:pPr algn="just">
              <a:buFont typeface="Wingdings" panose="05000000000000000000" pitchFamily="2" charset="2"/>
              <a:buChar char="§"/>
            </a:pPr>
            <a:r>
              <a:rPr lang="en-US" altLang="en-US" sz="6400" b="1" dirty="0">
                <a:solidFill>
                  <a:schemeClr val="tx1"/>
                </a:solidFill>
                <a:latin typeface="Times New Roman" panose="02020603050405020304" pitchFamily="18" charset="0"/>
                <a:cs typeface="Times New Roman" panose="02020603050405020304" pitchFamily="18" charset="0"/>
              </a:rPr>
              <a:t>Dataset Source:</a:t>
            </a:r>
            <a:r>
              <a:rPr lang="en-US" altLang="en-US" sz="6400" dirty="0">
                <a:solidFill>
                  <a:schemeClr val="tx1"/>
                </a:solidFill>
                <a:latin typeface="Times New Roman" panose="02020603050405020304" pitchFamily="18" charset="0"/>
                <a:cs typeface="Times New Roman" panose="02020603050405020304" pitchFamily="18" charset="0"/>
              </a:rPr>
              <a:t> The dataset was sourced from Kaggle containing historical flight booking details, including airline, route, and ticket prices. The dataset consists of both categorical and numerical variables. Each row represents a unique flight ticket record.</a:t>
            </a:r>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6400" b="1" dirty="0">
                <a:solidFill>
                  <a:schemeClr val="tx1"/>
                </a:solidFill>
                <a:latin typeface="Times New Roman" panose="02020603050405020304" pitchFamily="18" charset="0"/>
                <a:cs typeface="Times New Roman" panose="02020603050405020304" pitchFamily="18" charset="0"/>
              </a:rPr>
              <a:t>Rows:</a:t>
            </a:r>
            <a:r>
              <a:rPr lang="en-US" altLang="en-US" sz="6400" dirty="0">
                <a:solidFill>
                  <a:schemeClr val="tx1"/>
                </a:solidFill>
                <a:latin typeface="Times New Roman" panose="02020603050405020304" pitchFamily="18" charset="0"/>
                <a:cs typeface="Times New Roman" panose="02020603050405020304" pitchFamily="18" charset="0"/>
              </a:rPr>
              <a:t> 10,683 .</a:t>
            </a:r>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6400" b="1" dirty="0">
                <a:solidFill>
                  <a:schemeClr val="tx1"/>
                </a:solidFill>
                <a:latin typeface="Times New Roman" panose="02020603050405020304" pitchFamily="18" charset="0"/>
                <a:cs typeface="Times New Roman" panose="02020603050405020304" pitchFamily="18" charset="0"/>
              </a:rPr>
              <a:t>Columns:</a:t>
            </a:r>
            <a:r>
              <a:rPr lang="en-US" altLang="en-US" sz="6400" dirty="0">
                <a:solidFill>
                  <a:schemeClr val="tx1"/>
                </a:solidFill>
                <a:latin typeface="Times New Roman" panose="02020603050405020304" pitchFamily="18" charset="0"/>
                <a:cs typeface="Times New Roman" panose="02020603050405020304" pitchFamily="18" charset="0"/>
              </a:rPr>
              <a:t> 11 (Airline, Date_of_Journey, Source, Destination, Route, Dep_Time, Arrival_Time, Duration, Total_Stops, Additional_Info, Price)</a:t>
            </a:r>
          </a:p>
          <a:p>
            <a:pPr algn="just">
              <a:buFont typeface="Wingdings" panose="05000000000000000000" pitchFamily="2" charset="2"/>
              <a:buChar char="§"/>
            </a:pPr>
            <a:endParaRPr lang="en-US" altLang="en-US" sz="6400" b="1" dirty="0">
              <a:solidFill>
                <a:schemeClr val="tx1"/>
              </a:solidFill>
              <a:latin typeface="Times New Roman" panose="02020603050405020304" pitchFamily="18" charset="0"/>
              <a:cs typeface="Times New Roman" panose="02020603050405020304" pitchFamily="18" charset="0"/>
            </a:endParaRPr>
          </a:p>
          <a:p>
            <a:pPr lvl="0" algn="just"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6400" b="1" dirty="0">
                <a:solidFill>
                  <a:schemeClr val="tx1"/>
                </a:solidFill>
                <a:latin typeface="Times New Roman" panose="02020603050405020304" pitchFamily="18" charset="0"/>
                <a:cs typeface="Times New Roman" panose="02020603050405020304" pitchFamily="18" charset="0"/>
              </a:rPr>
              <a:t>Attributes</a:t>
            </a:r>
            <a:r>
              <a:rPr lang="en-US" altLang="en-US" sz="6400" dirty="0">
                <a:solidFill>
                  <a:schemeClr val="tx1"/>
                </a:solidFill>
                <a:latin typeface="Times New Roman" panose="02020603050405020304" pitchFamily="18" charset="0"/>
                <a:cs typeface="Times New Roman" panose="02020603050405020304" pitchFamily="18" charset="0"/>
              </a:rPr>
              <a:t>:</a:t>
            </a:r>
          </a:p>
          <a:p>
            <a:pPr lvl="0" algn="just"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6400" b="1" dirty="0">
                <a:solidFill>
                  <a:schemeClr val="tx1"/>
                </a:solidFill>
                <a:latin typeface="Times New Roman" panose="02020603050405020304" pitchFamily="18" charset="0"/>
                <a:cs typeface="Times New Roman" panose="02020603050405020304" pitchFamily="18" charset="0"/>
              </a:rPr>
              <a:t> </a:t>
            </a:r>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6400" b="1" dirty="0">
                <a:solidFill>
                  <a:schemeClr val="tx1"/>
                </a:solidFill>
                <a:latin typeface="Times New Roman" panose="02020603050405020304" pitchFamily="18" charset="0"/>
                <a:cs typeface="Times New Roman" panose="02020603050405020304" pitchFamily="18" charset="0"/>
              </a:rPr>
              <a:t>Airline:</a:t>
            </a:r>
            <a:r>
              <a:rPr lang="en-US" altLang="en-US" sz="6400" dirty="0">
                <a:solidFill>
                  <a:schemeClr val="tx1"/>
                </a:solidFill>
                <a:latin typeface="Times New Roman" panose="02020603050405020304" pitchFamily="18" charset="0"/>
                <a:cs typeface="Times New Roman" panose="02020603050405020304" pitchFamily="18" charset="0"/>
              </a:rPr>
              <a:t> Name of the airline operating the flight (Data Type: String – Categorical).</a:t>
            </a:r>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6400" b="1" dirty="0">
                <a:solidFill>
                  <a:schemeClr val="tx1"/>
                </a:solidFill>
                <a:latin typeface="Times New Roman" panose="02020603050405020304" pitchFamily="18" charset="0"/>
                <a:cs typeface="Times New Roman" panose="02020603050405020304" pitchFamily="18" charset="0"/>
              </a:rPr>
              <a:t>Date_of_Journey:</a:t>
            </a:r>
            <a:r>
              <a:rPr lang="en-US" altLang="en-US" sz="6400" dirty="0">
                <a:solidFill>
                  <a:schemeClr val="tx1"/>
                </a:solidFill>
                <a:latin typeface="Times New Roman" panose="02020603050405020304" pitchFamily="18" charset="0"/>
                <a:cs typeface="Times New Roman" panose="02020603050405020304" pitchFamily="18" charset="0"/>
              </a:rPr>
              <a:t> Date of the flight journey, later split into Day, Month, and Year for analysis (Data Type: Date → Integer).</a:t>
            </a:r>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6400" b="1" dirty="0">
                <a:solidFill>
                  <a:schemeClr val="tx1"/>
                </a:solidFill>
                <a:latin typeface="Times New Roman" panose="02020603050405020304" pitchFamily="18" charset="0"/>
                <a:cs typeface="Times New Roman" panose="02020603050405020304" pitchFamily="18" charset="0"/>
              </a:rPr>
              <a:t>Source:</a:t>
            </a:r>
            <a:r>
              <a:rPr lang="en-US" altLang="en-US" sz="6400" dirty="0">
                <a:solidFill>
                  <a:schemeClr val="tx1"/>
                </a:solidFill>
                <a:latin typeface="Times New Roman" panose="02020603050405020304" pitchFamily="18" charset="0"/>
                <a:cs typeface="Times New Roman" panose="02020603050405020304" pitchFamily="18" charset="0"/>
              </a:rPr>
              <a:t> City from which the passenger departs (Data Type: String – Categorical).</a:t>
            </a:r>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6400" b="1" dirty="0">
                <a:solidFill>
                  <a:schemeClr val="tx1"/>
                </a:solidFill>
                <a:latin typeface="Times New Roman" panose="02020603050405020304" pitchFamily="18" charset="0"/>
                <a:cs typeface="Times New Roman" panose="02020603050405020304" pitchFamily="18" charset="0"/>
              </a:rPr>
              <a:t>Destination:</a:t>
            </a:r>
            <a:r>
              <a:rPr lang="en-US" altLang="en-US" sz="6400" dirty="0">
                <a:solidFill>
                  <a:schemeClr val="tx1"/>
                </a:solidFill>
                <a:latin typeface="Times New Roman" panose="02020603050405020304" pitchFamily="18" charset="0"/>
                <a:cs typeface="Times New Roman" panose="02020603050405020304" pitchFamily="18" charset="0"/>
              </a:rPr>
              <a:t> City to which the passenger is traveling (Data Type: String – Categorical).</a:t>
            </a:r>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6400" b="1" dirty="0">
                <a:solidFill>
                  <a:schemeClr val="tx1"/>
                </a:solidFill>
                <a:latin typeface="Times New Roman" panose="02020603050405020304" pitchFamily="18" charset="0"/>
                <a:cs typeface="Times New Roman" panose="02020603050405020304" pitchFamily="18" charset="0"/>
              </a:rPr>
              <a:t>Route:</a:t>
            </a:r>
            <a:r>
              <a:rPr lang="en-US" altLang="en-US" sz="6400" dirty="0">
                <a:solidFill>
                  <a:schemeClr val="tx1"/>
                </a:solidFill>
                <a:latin typeface="Times New Roman" panose="02020603050405020304" pitchFamily="18" charset="0"/>
                <a:cs typeface="Times New Roman" panose="02020603050405020304" pitchFamily="18" charset="0"/>
              </a:rPr>
              <a:t> Sequence of stops from source to destination (Data Type: String – Categorical).</a:t>
            </a:r>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6400" b="1" dirty="0">
                <a:solidFill>
                  <a:schemeClr val="tx1"/>
                </a:solidFill>
                <a:latin typeface="Times New Roman" panose="02020603050405020304" pitchFamily="18" charset="0"/>
                <a:cs typeface="Times New Roman" panose="02020603050405020304" pitchFamily="18" charset="0"/>
              </a:rPr>
              <a:t>Dep_Time:</a:t>
            </a:r>
            <a:r>
              <a:rPr lang="en-US" altLang="en-US" sz="6400" dirty="0">
                <a:solidFill>
                  <a:schemeClr val="tx1"/>
                </a:solidFill>
                <a:latin typeface="Times New Roman" panose="02020603050405020304" pitchFamily="18" charset="0"/>
                <a:cs typeface="Times New Roman" panose="02020603050405020304" pitchFamily="18" charset="0"/>
              </a:rPr>
              <a:t> Departure time of the flight (Data Type: Time – Categorical/Derived Numerical).</a:t>
            </a:r>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6400" b="1" dirty="0">
                <a:solidFill>
                  <a:schemeClr val="tx1"/>
                </a:solidFill>
                <a:latin typeface="Times New Roman" panose="02020603050405020304" pitchFamily="18" charset="0"/>
                <a:cs typeface="Times New Roman" panose="02020603050405020304" pitchFamily="18" charset="0"/>
              </a:rPr>
              <a:t>Arrival_Time:</a:t>
            </a:r>
            <a:r>
              <a:rPr lang="en-US" altLang="en-US" sz="6400" dirty="0">
                <a:solidFill>
                  <a:schemeClr val="tx1"/>
                </a:solidFill>
                <a:latin typeface="Times New Roman" panose="02020603050405020304" pitchFamily="18" charset="0"/>
                <a:cs typeface="Times New Roman" panose="02020603050405020304" pitchFamily="18" charset="0"/>
              </a:rPr>
              <a:t> Arrival time of the flight (Data Type: Time – Categorical/Derived Numerical).</a:t>
            </a:r>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6400" b="1" dirty="0">
                <a:solidFill>
                  <a:schemeClr val="tx1"/>
                </a:solidFill>
                <a:latin typeface="Times New Roman" panose="02020603050405020304" pitchFamily="18" charset="0"/>
                <a:cs typeface="Times New Roman" panose="02020603050405020304" pitchFamily="18" charset="0"/>
              </a:rPr>
              <a:t>Duration:</a:t>
            </a:r>
            <a:r>
              <a:rPr lang="en-US" altLang="en-US" sz="6400" dirty="0">
                <a:solidFill>
                  <a:schemeClr val="tx1"/>
                </a:solidFill>
                <a:latin typeface="Times New Roman" panose="02020603050405020304" pitchFamily="18" charset="0"/>
                <a:cs typeface="Times New Roman" panose="02020603050405020304" pitchFamily="18" charset="0"/>
              </a:rPr>
              <a:t> Total time taken by the flight (Data Type: String – Numerical after conversion).</a:t>
            </a:r>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6400" b="1" dirty="0">
                <a:solidFill>
                  <a:schemeClr val="tx1"/>
                </a:solidFill>
                <a:latin typeface="Times New Roman" panose="02020603050405020304" pitchFamily="18" charset="0"/>
                <a:cs typeface="Times New Roman" panose="02020603050405020304" pitchFamily="18" charset="0"/>
              </a:rPr>
              <a:t>Total_Stops:</a:t>
            </a:r>
            <a:r>
              <a:rPr lang="en-US" altLang="en-US" sz="6400" dirty="0">
                <a:solidFill>
                  <a:schemeClr val="tx1"/>
                </a:solidFill>
                <a:latin typeface="Times New Roman" panose="02020603050405020304" pitchFamily="18" charset="0"/>
                <a:cs typeface="Times New Roman" panose="02020603050405020304" pitchFamily="18" charset="0"/>
              </a:rPr>
              <a:t> Number of stops between source and destination (Data Type: String – Ordinal Categorical).</a:t>
            </a:r>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6400" b="1" dirty="0">
                <a:solidFill>
                  <a:schemeClr val="tx1"/>
                </a:solidFill>
                <a:latin typeface="Times New Roman" panose="02020603050405020304" pitchFamily="18" charset="0"/>
                <a:cs typeface="Times New Roman" panose="02020603050405020304" pitchFamily="18" charset="0"/>
              </a:rPr>
              <a:t>Additional_Info:</a:t>
            </a:r>
            <a:r>
              <a:rPr lang="en-US" altLang="en-US" sz="6400" dirty="0">
                <a:solidFill>
                  <a:schemeClr val="tx1"/>
                </a:solidFill>
                <a:latin typeface="Times New Roman" panose="02020603050405020304" pitchFamily="18" charset="0"/>
                <a:cs typeface="Times New Roman" panose="02020603050405020304" pitchFamily="18" charset="0"/>
              </a:rPr>
              <a:t> Miscellaneous flight details such as in-flight services, no info, etc. (Data Type: String – Categorical).</a:t>
            </a:r>
          </a:p>
          <a:p>
            <a:pPr lvl="0" defTabSz="914400" eaLnBrk="0" fontAlgn="base" hangingPunct="0">
              <a:lnSpc>
                <a:spcPct val="100000"/>
              </a:lnSpc>
              <a:spcBef>
                <a:spcPct val="0"/>
              </a:spcBef>
              <a:spcAft>
                <a:spcPct val="0"/>
              </a:spcAft>
              <a:buClrTx/>
              <a:buSzTx/>
              <a:buFont typeface="Wingdings" panose="05000000000000000000" pitchFamily="2" charset="2"/>
              <a:buChar char="§"/>
            </a:pPr>
            <a:r>
              <a:rPr lang="en-US" altLang="en-US" sz="6400" b="1" dirty="0">
                <a:solidFill>
                  <a:schemeClr val="tx1"/>
                </a:solidFill>
                <a:latin typeface="Times New Roman" panose="02020603050405020304" pitchFamily="18" charset="0"/>
                <a:cs typeface="Times New Roman" panose="02020603050405020304" pitchFamily="18" charset="0"/>
              </a:rPr>
              <a:t>Price:</a:t>
            </a:r>
            <a:r>
              <a:rPr lang="en-US" altLang="en-US" sz="6400" dirty="0">
                <a:solidFill>
                  <a:schemeClr val="tx1"/>
                </a:solidFill>
                <a:latin typeface="Times New Roman" panose="02020603050405020304" pitchFamily="18" charset="0"/>
                <a:cs typeface="Times New Roman" panose="02020603050405020304" pitchFamily="18" charset="0"/>
              </a:rPr>
              <a:t> Ticket price of the flight (Target Variable) (Data Type: Integer – Numerical).</a:t>
            </a:r>
          </a:p>
          <a:p>
            <a:endParaRPr lang="en-IN" dirty="0"/>
          </a:p>
        </p:txBody>
      </p:sp>
    </p:spTree>
    <p:extLst>
      <p:ext uri="{BB962C8B-B14F-4D97-AF65-F5344CB8AC3E}">
        <p14:creationId xmlns:p14="http://schemas.microsoft.com/office/powerpoint/2010/main" val="1937071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37AC13-35D0-1FE7-98A7-E4555F2D60E0}"/>
              </a:ext>
            </a:extLst>
          </p:cNvPr>
          <p:cNvPicPr>
            <a:picLocks noChangeAspect="1"/>
          </p:cNvPicPr>
          <p:nvPr/>
        </p:nvPicPr>
        <p:blipFill>
          <a:blip r:embed="rId2"/>
          <a:stretch>
            <a:fillRect/>
          </a:stretch>
        </p:blipFill>
        <p:spPr>
          <a:xfrm>
            <a:off x="515675" y="715028"/>
            <a:ext cx="11021963" cy="5793927"/>
          </a:xfrm>
          <a:prstGeom prst="rect">
            <a:avLst/>
          </a:prstGeom>
        </p:spPr>
      </p:pic>
    </p:spTree>
    <p:extLst>
      <p:ext uri="{BB962C8B-B14F-4D97-AF65-F5344CB8AC3E}">
        <p14:creationId xmlns:p14="http://schemas.microsoft.com/office/powerpoint/2010/main" val="170821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4C7F6-8A53-3BD8-99B7-DE6797D64DC5}"/>
              </a:ext>
            </a:extLst>
          </p:cNvPr>
          <p:cNvSpPr>
            <a:spLocks noGrp="1"/>
          </p:cNvSpPr>
          <p:nvPr>
            <p:ph type="title"/>
          </p:nvPr>
        </p:nvSpPr>
        <p:spPr>
          <a:xfrm>
            <a:off x="581192" y="717755"/>
            <a:ext cx="11029616" cy="1828800"/>
          </a:xfrm>
        </p:spPr>
        <p:txBody>
          <a:bodyPr>
            <a:normAutofit/>
          </a:bodyPr>
          <a:lstStyle/>
          <a:p>
            <a:pPr algn="ctr"/>
            <a:r>
              <a:rPr lang="en-GB" b="1" dirty="0">
                <a:solidFill>
                  <a:srgbClr val="7030A0"/>
                </a:solidFill>
                <a:latin typeface="Calibri"/>
                <a:ea typeface="Calibri"/>
                <a:cs typeface="Calibri"/>
                <a:sym typeface="Calibri"/>
              </a:rPr>
              <a:t>DATA PREPROCESSING</a:t>
            </a:r>
            <a:br>
              <a:rPr lang="en-GB" b="1" dirty="0">
                <a:latin typeface="Calibri"/>
                <a:ea typeface="Calibri"/>
                <a:cs typeface="Calibri"/>
                <a:sym typeface="Calibri"/>
              </a:rPr>
            </a:br>
            <a:br>
              <a:rPr lang="en-GB" b="1" dirty="0">
                <a:latin typeface="Calibri"/>
                <a:ea typeface="Calibri"/>
                <a:cs typeface="Calibri"/>
                <a:sym typeface="Calibri"/>
              </a:rPr>
            </a:br>
            <a:endParaRPr lang="en-IN" dirty="0"/>
          </a:p>
        </p:txBody>
      </p:sp>
      <p:sp>
        <p:nvSpPr>
          <p:cNvPr id="3" name="Content Placeholder 2">
            <a:extLst>
              <a:ext uri="{FF2B5EF4-FFF2-40B4-BE49-F238E27FC236}">
                <a16:creationId xmlns:a16="http://schemas.microsoft.com/office/drawing/2014/main" id="{71389963-140D-2506-3735-6240340AA897}"/>
              </a:ext>
            </a:extLst>
          </p:cNvPr>
          <p:cNvSpPr>
            <a:spLocks noGrp="1"/>
          </p:cNvSpPr>
          <p:nvPr>
            <p:ph idx="1"/>
          </p:nvPr>
        </p:nvSpPr>
        <p:spPr/>
        <p:txBody>
          <a:bodyPr>
            <a:normAutofit fontScale="25000" lnSpcReduction="20000"/>
          </a:bodyPr>
          <a:lstStyle/>
          <a:p>
            <a:pPr marL="228600" marR="0" lvl="0" indent="-228600" algn="just" defTabSz="914400" eaLnBrk="1" fontAlgn="auto" latinLnBrk="0" hangingPunct="1">
              <a:lnSpc>
                <a:spcPct val="100000"/>
              </a:lnSpc>
              <a:spcBef>
                <a:spcPts val="0"/>
              </a:spcBef>
              <a:spcAft>
                <a:spcPts val="0"/>
              </a:spcAft>
              <a:buClrTx/>
              <a:buSzTx/>
              <a:buFont typeface="+mj-lt"/>
              <a:buAutoNum type="arabicPeriod"/>
              <a:tabLst/>
              <a:defRPr/>
            </a:pPr>
            <a:endParaRPr kumimoji="0" lang="en-US" sz="8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indent="0" algn="just" defTabSz="914400">
              <a:lnSpc>
                <a:spcPct val="100000"/>
              </a:lnSpc>
              <a:spcBef>
                <a:spcPts val="0"/>
              </a:spcBef>
              <a:spcAft>
                <a:spcPts val="0"/>
              </a:spcAft>
              <a:buClrTx/>
              <a:buSzTx/>
              <a:buNone/>
              <a:defRPr/>
            </a:pPr>
            <a:r>
              <a:rPr lang="en-US" sz="8000" dirty="0">
                <a:latin typeface="Times New Roman" panose="02020603050405020304" pitchFamily="18" charset="0"/>
                <a:cs typeface="Times New Roman" panose="02020603050405020304" pitchFamily="18" charset="0"/>
              </a:rPr>
              <a:t>Data preprocessing is the first and most important step in any machine learning pipeline. Even if the dataset is clean (no duplicates or missing values), preprocessing is necessary to ensure that the data is in the right format, properly scaled, and ready for model training.</a:t>
            </a:r>
            <a:endParaRPr kumimoji="0" lang="en-US" sz="8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eaLnBrk="1" fontAlgn="auto" latinLnBrk="0" hangingPunct="1">
              <a:lnSpc>
                <a:spcPct val="100000"/>
              </a:lnSpc>
              <a:spcBef>
                <a:spcPts val="0"/>
              </a:spcBef>
              <a:spcAft>
                <a:spcPts val="0"/>
              </a:spcAft>
              <a:buClrTx/>
              <a:buSzTx/>
              <a:buNone/>
              <a:tabLst/>
              <a:defRPr/>
            </a:pPr>
            <a:r>
              <a:rPr kumimoji="0" lang="en-US" sz="8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Duplicate Removal</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8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Sometimes, the same flight record may appear multiple times in the dataset.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8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Duplicate records can bias the model by giving extra weight to repeated entries.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8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Checked for duplicate values and ensured no duplicate flight records were present.</a:t>
            </a:r>
            <a:endParaRPr kumimoji="0" lang="en-US" sz="8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eaLnBrk="1" fontAlgn="auto" latinLnBrk="0" hangingPunct="1">
              <a:lnSpc>
                <a:spcPct val="100000"/>
              </a:lnSpc>
              <a:spcBef>
                <a:spcPts val="0"/>
              </a:spcBef>
              <a:spcAft>
                <a:spcPts val="0"/>
              </a:spcAft>
              <a:buClrTx/>
              <a:buSzTx/>
              <a:buNone/>
              <a:tabLst/>
              <a:defRPr/>
            </a:pPr>
            <a:r>
              <a:rPr kumimoji="0" lang="en-US" sz="8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Handling Missing Values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8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Real-world flight datasets often have missing entries.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8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 this dataset, fields like </a:t>
            </a:r>
            <a:r>
              <a:rPr kumimoji="0" lang="en-US" altLang="en-US" sz="8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Arrival_Time, Duration, Additional_Info</a:t>
            </a:r>
            <a:r>
              <a:rPr kumimoji="0" lang="en-US" altLang="en-US" sz="8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may have missing values.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8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Missing values were either imputed or dropped to ensure dataset completeness.</a:t>
            </a:r>
          </a:p>
          <a:p>
            <a:pPr marL="0" marR="0" lvl="0" indent="0" algn="just" defTabSz="914400" eaLnBrk="1" fontAlgn="auto" latinLnBrk="0" hangingPunct="1">
              <a:lnSpc>
                <a:spcPct val="100000"/>
              </a:lnSpc>
              <a:spcBef>
                <a:spcPts val="0"/>
              </a:spcBef>
              <a:spcAft>
                <a:spcPts val="0"/>
              </a:spcAft>
              <a:buClrTx/>
              <a:buSzTx/>
              <a:buNone/>
              <a:tabLst/>
              <a:defRPr/>
            </a:pPr>
            <a:r>
              <a:rPr kumimoji="0" lang="en-IN" sz="8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Column Cleanup</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8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Removed irrelevant identifiers such as </a:t>
            </a:r>
            <a:r>
              <a:rPr kumimoji="0" lang="en-US" altLang="en-US" sz="8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Flight Number</a:t>
            </a:r>
            <a:r>
              <a:rPr kumimoji="0" lang="en-US" altLang="en-US" sz="8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8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Such columns act only as identifiers and have </a:t>
            </a:r>
            <a:r>
              <a:rPr kumimoji="0" lang="en-US" altLang="en-US" sz="8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no predictive value</a:t>
            </a:r>
            <a:r>
              <a:rPr kumimoji="0" lang="en-US" altLang="en-US" sz="8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for ticket price.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8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Eliminating them prevents noise from entering the model</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p>
          <a:p>
            <a:endParaRPr lang="en-IN" dirty="0"/>
          </a:p>
        </p:txBody>
      </p:sp>
    </p:spTree>
    <p:extLst>
      <p:ext uri="{BB962C8B-B14F-4D97-AF65-F5344CB8AC3E}">
        <p14:creationId xmlns:p14="http://schemas.microsoft.com/office/powerpoint/2010/main" val="3747848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6497CE-6BBA-A6C0-2D31-7F4A69CCC921}"/>
              </a:ext>
            </a:extLst>
          </p:cNvPr>
          <p:cNvSpPr>
            <a:spLocks noGrp="1"/>
          </p:cNvSpPr>
          <p:nvPr>
            <p:ph idx="4294967295"/>
          </p:nvPr>
        </p:nvSpPr>
        <p:spPr>
          <a:xfrm>
            <a:off x="433138" y="995363"/>
            <a:ext cx="10596812" cy="4979987"/>
          </a:xfrm>
        </p:spPr>
        <p:txBody>
          <a:bodyPr/>
          <a:lstStyle/>
          <a:p>
            <a:pPr marL="0" marR="0" lvl="0" indent="0" defTabSz="914400" eaLnBrk="1" fontAlgn="auto" latinLnBrk="0" hangingPunct="1">
              <a:lnSpc>
                <a:spcPct val="100000"/>
              </a:lnSpc>
              <a:spcBef>
                <a:spcPts val="0"/>
              </a:spcBef>
              <a:spcAft>
                <a:spcPts val="0"/>
              </a:spcAft>
              <a:buClrTx/>
              <a:buSzTx/>
              <a:buNone/>
              <a:tabLst/>
              <a:defRPr/>
            </a:pP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Data Cleaning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Converted </a:t>
            </a:r>
            <a:r>
              <a:rPr kumimoji="0" lang="en-US" altLang="en-US" sz="2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Date_of_Journey</a:t>
            </a: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into separate features: </a:t>
            </a:r>
            <a:r>
              <a:rPr kumimoji="0" lang="en-US" altLang="en-US" sz="2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Day, Month, Year</a:t>
            </a: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Standardized </a:t>
            </a:r>
            <a:r>
              <a:rPr kumimoji="0" lang="en-US" altLang="en-US" sz="2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Duration</a:t>
            </a: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by converting into numerical values (in minutes).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Extracted departure and arrival hours from </a:t>
            </a:r>
            <a:r>
              <a:rPr kumimoji="0" lang="en-US" altLang="en-US" sz="2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Dep_Time</a:t>
            </a: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and </a:t>
            </a:r>
            <a:r>
              <a:rPr kumimoji="0" lang="en-US" altLang="en-US" sz="2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Arrival_Time</a:t>
            </a: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L="0" marR="0" lvl="0" indent="0" algn="just" defTabSz="914400" eaLnBrk="1" fontAlgn="auto" latinLnBrk="0" hangingPunct="1">
              <a:lnSpc>
                <a:spcPct val="100000"/>
              </a:lnSpc>
              <a:spcBef>
                <a:spcPts val="0"/>
              </a:spcBef>
              <a:spcAft>
                <a:spcPts val="0"/>
              </a:spcAft>
              <a:buClrTx/>
              <a:buSzTx/>
              <a:buNone/>
              <a:tabLst/>
              <a:defRPr/>
            </a:pP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p>
          <a:p>
            <a:pPr marL="0" marR="0" lvl="0" indent="0" algn="just" defTabSz="914400" eaLnBrk="1" fontAlgn="auto" latinLnBrk="0" hangingPunct="1">
              <a:lnSpc>
                <a:spcPct val="100000"/>
              </a:lnSpc>
              <a:spcBef>
                <a:spcPts val="0"/>
              </a:spcBef>
              <a:spcAft>
                <a:spcPts val="0"/>
              </a:spcAft>
              <a:buClrTx/>
              <a:buSzTx/>
              <a:buNone/>
              <a:tabLst/>
              <a:defRPr/>
            </a:pP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Outlier Treatment</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Converted categorical features (</a:t>
            </a:r>
            <a:r>
              <a:rPr kumimoji="0" lang="en-US" altLang="en-US" sz="2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Airline, Source, Destination, Route</a:t>
            </a: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using </a:t>
            </a:r>
            <a:r>
              <a:rPr kumimoji="0" lang="en-US" altLang="en-US" sz="2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Label Encoding</a:t>
            </a: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and </a:t>
            </a:r>
            <a:r>
              <a:rPr kumimoji="0" lang="en-US" altLang="en-US" sz="2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One-Hot Encoding</a:t>
            </a: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This allowed the models to process categorical data effectively.</a:t>
            </a:r>
          </a:p>
          <a:p>
            <a:pPr marR="0" lvl="0" algn="just"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eaLnBrk="1" fontAlgn="auto" latinLnBrk="0" hangingPunct="1">
              <a:lnSpc>
                <a:spcPct val="100000"/>
              </a:lnSpc>
              <a:spcBef>
                <a:spcPts val="0"/>
              </a:spcBef>
              <a:spcAft>
                <a:spcPts val="0"/>
              </a:spcAft>
              <a:buClrTx/>
              <a:buSzTx/>
              <a:buNone/>
              <a:tabLst/>
              <a:defRPr/>
            </a:pPr>
            <a:r>
              <a:rPr kumimoji="0" lang="en-IN"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Feature Scaling</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p>
          <a:p>
            <a:pPr marR="0" lvl="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Normalized continuous features like </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Duration</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and </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Stops</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t>
            </a:r>
          </a:p>
          <a:p>
            <a:pPr marR="0" lvl="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Scaling ensured that features contributed proportionally during model training.</a:t>
            </a:r>
          </a:p>
          <a:p>
            <a:endParaRPr lang="en-IN" dirty="0"/>
          </a:p>
        </p:txBody>
      </p:sp>
    </p:spTree>
    <p:extLst>
      <p:ext uri="{BB962C8B-B14F-4D97-AF65-F5344CB8AC3E}">
        <p14:creationId xmlns:p14="http://schemas.microsoft.com/office/powerpoint/2010/main" val="413591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6AB2C89-54AB-372D-1BE3-3B27AB889BA8}"/>
              </a:ext>
            </a:extLst>
          </p:cNvPr>
          <p:cNvPicPr>
            <a:picLocks noChangeAspect="1"/>
          </p:cNvPicPr>
          <p:nvPr/>
        </p:nvPicPr>
        <p:blipFill>
          <a:blip r:embed="rId2"/>
          <a:stretch>
            <a:fillRect/>
          </a:stretch>
        </p:blipFill>
        <p:spPr>
          <a:xfrm>
            <a:off x="6104418" y="1807779"/>
            <a:ext cx="5903495" cy="4348065"/>
          </a:xfrm>
          <a:prstGeom prst="rect">
            <a:avLst/>
          </a:prstGeom>
        </p:spPr>
      </p:pic>
      <p:sp>
        <p:nvSpPr>
          <p:cNvPr id="4" name="TextBox 3">
            <a:extLst>
              <a:ext uri="{FF2B5EF4-FFF2-40B4-BE49-F238E27FC236}">
                <a16:creationId xmlns:a16="http://schemas.microsoft.com/office/drawing/2014/main" id="{FA6F8321-5BDF-66F4-43E9-7914DE1ACC3A}"/>
              </a:ext>
            </a:extLst>
          </p:cNvPr>
          <p:cNvSpPr txBox="1"/>
          <p:nvPr/>
        </p:nvSpPr>
        <p:spPr>
          <a:xfrm>
            <a:off x="184089" y="1712105"/>
            <a:ext cx="5903495" cy="504753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This table summarizes the </a:t>
            </a:r>
            <a:r>
              <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central tendency, spread, and distribution</a:t>
            </a:r>
            <a:r>
              <a:rPr kumimoji="0" 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of the flight dataset features.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It includes key statistics such as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mean, median (50%),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standard deviation, minimum,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maximum, and</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quartiles (25%, 75%)</a:t>
            </a:r>
            <a:r>
              <a:rPr kumimoji="0" 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for numerical attributes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like </a:t>
            </a:r>
            <a:r>
              <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ticket price, duration,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departure time, and number of stops</a:t>
            </a:r>
            <a:r>
              <a:rPr kumimoji="0" 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From this, we observe:</a:t>
            </a: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Ticket Prices</a:t>
            </a:r>
            <a:r>
              <a:rPr kumimoji="0" 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show wide variability</a:t>
            </a: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reflecting differences across airlines, travel classes,</a:t>
            </a: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and booking times.</a:t>
            </a: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Duration</a:t>
            </a:r>
            <a:r>
              <a:rPr kumimoji="0" 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values vary significantly depending on route and number of stops, with some outliers representing unusually long flights.</a:t>
            </a: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Number of Stops</a:t>
            </a:r>
            <a:r>
              <a:rPr kumimoji="0" 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is skewed toward 0 and 1, indicating that most passengers prefer direct or one-stop flights.</a:t>
            </a: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Departure and Arrival Times</a:t>
            </a:r>
            <a:r>
              <a:rPr kumimoji="0" 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display patterns where certain times (e.g., early morning or evening flights) are more frequent and may influence ticket pricing.</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These insights help in identifying </a:t>
            </a:r>
            <a:r>
              <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potential outliers, skewness, and variability</a:t>
            </a:r>
            <a:r>
              <a:rPr kumimoji="0" 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in flight data, which must be handled during preprocessing to build more </a:t>
            </a:r>
            <a:r>
              <a:rPr kumimoji="0" lang="en-US" sz="1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accurate and robust price prediction models</a:t>
            </a:r>
            <a:endParaRPr kumimoji="0" 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95980D3B-8F56-B426-2826-54797DE333AA}"/>
              </a:ext>
            </a:extLst>
          </p:cNvPr>
          <p:cNvSpPr>
            <a:spLocks noGrp="1"/>
          </p:cNvSpPr>
          <p:nvPr>
            <p:ph type="title"/>
          </p:nvPr>
        </p:nvSpPr>
        <p:spPr>
          <a:xfrm>
            <a:off x="581192" y="472966"/>
            <a:ext cx="11029616" cy="924910"/>
          </a:xfrm>
        </p:spPr>
        <p:txBody>
          <a:bodyPr/>
          <a:lstStyle/>
          <a:p>
            <a:pPr algn="ctr"/>
            <a:r>
              <a:rPr lang="en-IN" dirty="0">
                <a:solidFill>
                  <a:srgbClr val="7030A0"/>
                </a:solidFill>
              </a:rPr>
              <a:t>Descriptive statistics table</a:t>
            </a:r>
          </a:p>
        </p:txBody>
      </p:sp>
    </p:spTree>
    <p:extLst>
      <p:ext uri="{BB962C8B-B14F-4D97-AF65-F5344CB8AC3E}">
        <p14:creationId xmlns:p14="http://schemas.microsoft.com/office/powerpoint/2010/main" val="3479757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8E3BF-C687-7BC9-78E8-4D0FBE72404D}"/>
              </a:ext>
            </a:extLst>
          </p:cNvPr>
          <p:cNvSpPr>
            <a:spLocks noGrp="1"/>
          </p:cNvSpPr>
          <p:nvPr>
            <p:ph type="title"/>
          </p:nvPr>
        </p:nvSpPr>
        <p:spPr>
          <a:xfrm>
            <a:off x="581192" y="702156"/>
            <a:ext cx="11029616" cy="773718"/>
          </a:xfrm>
        </p:spPr>
        <p:txBody>
          <a:bodyPr/>
          <a:lstStyle/>
          <a:p>
            <a:pPr algn="ctr"/>
            <a:r>
              <a:rPr lang="en-IN" dirty="0">
                <a:solidFill>
                  <a:srgbClr val="7030A0"/>
                </a:solidFill>
              </a:rPr>
              <a:t>Exploratory data analysis</a:t>
            </a:r>
          </a:p>
        </p:txBody>
      </p:sp>
      <p:pic>
        <p:nvPicPr>
          <p:cNvPr id="4" name="Content Placeholder 3">
            <a:extLst>
              <a:ext uri="{FF2B5EF4-FFF2-40B4-BE49-F238E27FC236}">
                <a16:creationId xmlns:a16="http://schemas.microsoft.com/office/drawing/2014/main" id="{257400D3-1FD0-B973-07B9-12FD8482A584}"/>
              </a:ext>
            </a:extLst>
          </p:cNvPr>
          <p:cNvPicPr>
            <a:picLocks noGrp="1" noChangeAspect="1"/>
          </p:cNvPicPr>
          <p:nvPr>
            <p:ph idx="1"/>
          </p:nvPr>
        </p:nvPicPr>
        <p:blipFill>
          <a:blip r:embed="rId2"/>
          <a:stretch>
            <a:fillRect/>
          </a:stretch>
        </p:blipFill>
        <p:spPr>
          <a:xfrm>
            <a:off x="5794876" y="1765738"/>
            <a:ext cx="5983705" cy="4390106"/>
          </a:xfrm>
          <a:prstGeom prst="rect">
            <a:avLst/>
          </a:prstGeom>
        </p:spPr>
      </p:pic>
      <p:sp>
        <p:nvSpPr>
          <p:cNvPr id="8" name="TextBox 7">
            <a:extLst>
              <a:ext uri="{FF2B5EF4-FFF2-40B4-BE49-F238E27FC236}">
                <a16:creationId xmlns:a16="http://schemas.microsoft.com/office/drawing/2014/main" id="{9AC88C26-6EA8-8420-839E-7C2A5B59CEDF}"/>
              </a:ext>
            </a:extLst>
          </p:cNvPr>
          <p:cNvSpPr txBox="1"/>
          <p:nvPr/>
        </p:nvSpPr>
        <p:spPr>
          <a:xfrm>
            <a:off x="413419" y="2168537"/>
            <a:ext cx="5213684" cy="3754874"/>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Airline Distribution Analysis : </a:t>
            </a:r>
            <a:br>
              <a:rPr lang="en-US" sz="2000" b="0" i="0" dirty="0">
                <a:solidFill>
                  <a:srgbClr val="1D1C1B"/>
                </a:solidFill>
                <a:effectLst/>
                <a:latin typeface="Times New Roman" panose="02020603050405020304" pitchFamily="18" charset="0"/>
                <a:cs typeface="Times New Roman" panose="02020603050405020304" pitchFamily="18" charset="0"/>
              </a:rPr>
            </a:br>
            <a:r>
              <a:rPr lang="en-US" sz="2000" b="0" i="0" dirty="0">
                <a:solidFill>
                  <a:srgbClr val="1D1C1B"/>
                </a:solidFill>
                <a:effectLst/>
                <a:latin typeface="Times New Roman" panose="02020603050405020304" pitchFamily="18" charset="0"/>
                <a:cs typeface="Times New Roman" panose="02020603050405020304" pitchFamily="18" charset="0"/>
              </a:rPr>
              <a:t>JetAlways has the most, over 3000.</a:t>
            </a:r>
          </a:p>
          <a:p>
            <a:pPr algn="l">
              <a:buFont typeface="Arial" panose="020B0604020202020204" pitchFamily="34" charset="0"/>
              <a:buChar char="•"/>
            </a:pPr>
            <a:r>
              <a:rPr lang="en-US" sz="2000" b="0" i="0" dirty="0">
                <a:solidFill>
                  <a:srgbClr val="1D1C1B"/>
                </a:solidFill>
                <a:effectLst/>
                <a:latin typeface="Times New Roman" panose="02020603050405020304" pitchFamily="18" charset="0"/>
                <a:cs typeface="Times New Roman" panose="02020603050405020304" pitchFamily="18" charset="0"/>
              </a:rPr>
              <a:t>IndiGo and Air India are next, around 2000 each.</a:t>
            </a:r>
          </a:p>
          <a:p>
            <a:pPr algn="l">
              <a:buFont typeface="Arial" panose="020B0604020202020204" pitchFamily="34" charset="0"/>
              <a:buChar char="•"/>
            </a:pPr>
            <a:r>
              <a:rPr lang="en-US" sz="2000" b="0" i="0" dirty="0">
                <a:solidFill>
                  <a:srgbClr val="1D1C1B"/>
                </a:solidFill>
                <a:effectLst/>
                <a:latin typeface="Times New Roman" panose="02020603050405020304" pitchFamily="18" charset="0"/>
                <a:cs typeface="Times New Roman" panose="02020603050405020304" pitchFamily="18" charset="0"/>
              </a:rPr>
              <a:t>Frontier and Multiple carriers have about 1000 and 800.</a:t>
            </a:r>
          </a:p>
          <a:p>
            <a:pPr algn="l">
              <a:buFont typeface="Arial" panose="020B0604020202020204" pitchFamily="34" charset="0"/>
              <a:buChar char="•"/>
            </a:pPr>
            <a:r>
              <a:rPr lang="en-US" sz="2000" b="0" i="0" dirty="0">
                <a:solidFill>
                  <a:srgbClr val="1D1C1B"/>
                </a:solidFill>
                <a:effectLst/>
                <a:latin typeface="Times New Roman" panose="02020603050405020304" pitchFamily="18" charset="0"/>
                <a:cs typeface="Times New Roman" panose="02020603050405020304" pitchFamily="18" charset="0"/>
              </a:rPr>
              <a:t>Other airlines (GoAir, Vistara, Air Asia, etc.) have less than 500, with some very low like Trujet.</a:t>
            </a:r>
          </a:p>
          <a:p>
            <a:pPr algn="l">
              <a:buFont typeface="Arial" panose="020B0604020202020204" pitchFamily="34" charset="0"/>
              <a:buChar char="•"/>
            </a:pPr>
            <a:r>
              <a:rPr lang="en-US" sz="2000" b="0" i="0" dirty="0">
                <a:solidFill>
                  <a:srgbClr val="1D1C1B"/>
                </a:solidFill>
                <a:effectLst/>
                <a:latin typeface="Times New Roman" panose="02020603050405020304" pitchFamily="18" charset="0"/>
                <a:cs typeface="Times New Roman" panose="02020603050405020304" pitchFamily="18" charset="0"/>
              </a:rPr>
              <a:t>Most activity is with JetAlways, IndiGo, and Air India</a:t>
            </a:r>
            <a:r>
              <a:rPr lang="en-US" b="0" i="0" dirty="0">
                <a:solidFill>
                  <a:srgbClr val="1D1C1B"/>
                </a:solidFill>
                <a:effectLst/>
                <a:latin typeface="universalSans"/>
              </a:rPr>
              <a:t>.</a:t>
            </a:r>
          </a:p>
          <a:p>
            <a:pPr algn="l">
              <a:buFont typeface="Arial" panose="020B0604020202020204" pitchFamily="34" charset="0"/>
              <a:buChar char="•"/>
            </a:pPr>
            <a:endParaRPr lang="en-US" dirty="0">
              <a:solidFill>
                <a:srgbClr val="1D1C1B"/>
              </a:solidFill>
              <a:latin typeface="universalSans"/>
            </a:endParaRPr>
          </a:p>
        </p:txBody>
      </p:sp>
    </p:spTree>
    <p:extLst>
      <p:ext uri="{BB962C8B-B14F-4D97-AF65-F5344CB8AC3E}">
        <p14:creationId xmlns:p14="http://schemas.microsoft.com/office/powerpoint/2010/main" val="2332475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31076-B5E5-D9E6-3DEB-547C09FBBD08}"/>
              </a:ext>
            </a:extLst>
          </p:cNvPr>
          <p:cNvSpPr>
            <a:spLocks noGrp="1"/>
          </p:cNvSpPr>
          <p:nvPr>
            <p:ph type="title"/>
          </p:nvPr>
        </p:nvSpPr>
        <p:spPr>
          <a:xfrm>
            <a:off x="581192" y="702155"/>
            <a:ext cx="11029616" cy="1210727"/>
          </a:xfrm>
        </p:spPr>
        <p:txBody>
          <a:bodyPr/>
          <a:lstStyle/>
          <a:p>
            <a:pPr algn="ctr"/>
            <a:r>
              <a:rPr lang="en-IN" dirty="0">
                <a:solidFill>
                  <a:srgbClr val="7030A0"/>
                </a:solidFill>
              </a:rPr>
              <a:t>Pie Chart of Source</a:t>
            </a:r>
            <a:br>
              <a:rPr lang="en-IN" dirty="0"/>
            </a:br>
            <a:endParaRPr lang="en-IN" dirty="0"/>
          </a:p>
        </p:txBody>
      </p:sp>
      <p:pic>
        <p:nvPicPr>
          <p:cNvPr id="5" name="Content Placeholder 4">
            <a:extLst>
              <a:ext uri="{FF2B5EF4-FFF2-40B4-BE49-F238E27FC236}">
                <a16:creationId xmlns:a16="http://schemas.microsoft.com/office/drawing/2014/main" id="{D4341B76-5CF6-9722-D323-3C014DEB09C2}"/>
              </a:ext>
            </a:extLst>
          </p:cNvPr>
          <p:cNvPicPr>
            <a:picLocks noGrp="1" noChangeAspect="1"/>
          </p:cNvPicPr>
          <p:nvPr>
            <p:ph idx="1"/>
          </p:nvPr>
        </p:nvPicPr>
        <p:blipFill>
          <a:blip r:embed="rId2"/>
          <a:stretch>
            <a:fillRect/>
          </a:stretch>
        </p:blipFill>
        <p:spPr>
          <a:xfrm>
            <a:off x="6201103" y="1912881"/>
            <a:ext cx="5660670" cy="3888829"/>
          </a:xfrm>
          <a:prstGeom prst="rect">
            <a:avLst/>
          </a:prstGeom>
        </p:spPr>
      </p:pic>
      <p:sp>
        <p:nvSpPr>
          <p:cNvPr id="7" name="TextBox 6">
            <a:extLst>
              <a:ext uri="{FF2B5EF4-FFF2-40B4-BE49-F238E27FC236}">
                <a16:creationId xmlns:a16="http://schemas.microsoft.com/office/drawing/2014/main" id="{BE21A73F-FB19-41B2-D485-4B1EF7380AEA}"/>
              </a:ext>
            </a:extLst>
          </p:cNvPr>
          <p:cNvSpPr txBox="1"/>
          <p:nvPr/>
        </p:nvSpPr>
        <p:spPr>
          <a:xfrm>
            <a:off x="679835" y="2452501"/>
            <a:ext cx="6096000" cy="2554545"/>
          </a:xfrm>
          <a:prstGeom prst="rect">
            <a:avLst/>
          </a:prstGeom>
          <a:noFill/>
        </p:spPr>
        <p:txBody>
          <a:bodyPr wrap="square">
            <a:spAutoFit/>
          </a:bodyPr>
          <a:lstStyle/>
          <a:p>
            <a:pPr algn="l"/>
            <a:br>
              <a:rPr lang="en-US" sz="2000" b="0" i="0" dirty="0">
                <a:solidFill>
                  <a:srgbClr val="1D1C1B"/>
                </a:solidFill>
                <a:effectLst/>
                <a:latin typeface="Times New Roman" panose="02020603050405020304" pitchFamily="18" charset="0"/>
                <a:cs typeface="Times New Roman" panose="02020603050405020304" pitchFamily="18" charset="0"/>
              </a:rPr>
            </a:br>
            <a:r>
              <a:rPr lang="en-US" sz="2000" b="0" i="0" dirty="0">
                <a:solidFill>
                  <a:srgbClr val="1D1C1B"/>
                </a:solidFill>
                <a:effectLst/>
                <a:latin typeface="Times New Roman" panose="02020603050405020304" pitchFamily="18" charset="0"/>
                <a:cs typeface="Times New Roman" panose="02020603050405020304" pitchFamily="18" charset="0"/>
              </a:rPr>
              <a:t>Delhi is the dominant source with 42.5%, followed by Kolkata at 26.9%.</a:t>
            </a:r>
          </a:p>
          <a:p>
            <a:pPr algn="l">
              <a:buFont typeface="Arial" panose="020B0604020202020204" pitchFamily="34" charset="0"/>
              <a:buChar char="•"/>
            </a:pPr>
            <a:r>
              <a:rPr lang="en-US" sz="2000" b="0" i="0" dirty="0">
                <a:solidFill>
                  <a:srgbClr val="1D1C1B"/>
                </a:solidFill>
                <a:effectLst/>
                <a:latin typeface="Times New Roman" panose="02020603050405020304" pitchFamily="18" charset="0"/>
                <a:cs typeface="Times New Roman" panose="02020603050405020304" pitchFamily="18" charset="0"/>
              </a:rPr>
              <a:t>Bangalore contributes 20.6%, while Mumbai and Chennai have smaller shares at 6.5% and 3.6% respectively.</a:t>
            </a:r>
          </a:p>
          <a:p>
            <a:pPr algn="l">
              <a:buFont typeface="Arial" panose="020B0604020202020204" pitchFamily="34" charset="0"/>
              <a:buChar char="•"/>
            </a:pPr>
            <a:r>
              <a:rPr lang="en-US" sz="2000" b="0" i="0" dirty="0">
                <a:solidFill>
                  <a:srgbClr val="1D1C1B"/>
                </a:solidFill>
                <a:effectLst/>
                <a:latin typeface="Times New Roman" panose="02020603050405020304" pitchFamily="18" charset="0"/>
                <a:cs typeface="Times New Roman" panose="02020603050405020304" pitchFamily="18" charset="0"/>
              </a:rPr>
              <a:t>The data suggests a heavy concentration of flights originating from Delhi and Kolkata.</a:t>
            </a:r>
          </a:p>
        </p:txBody>
      </p:sp>
    </p:spTree>
    <p:extLst>
      <p:ext uri="{BB962C8B-B14F-4D97-AF65-F5344CB8AC3E}">
        <p14:creationId xmlns:p14="http://schemas.microsoft.com/office/powerpoint/2010/main" val="219134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7FAB8-F776-4EEE-2BF8-7AE7A7AB459F}"/>
              </a:ext>
            </a:extLst>
          </p:cNvPr>
          <p:cNvSpPr>
            <a:spLocks noGrp="1"/>
          </p:cNvSpPr>
          <p:nvPr>
            <p:ph type="title"/>
          </p:nvPr>
        </p:nvSpPr>
        <p:spPr/>
        <p:txBody>
          <a:bodyPr/>
          <a:lstStyle/>
          <a:p>
            <a:pPr algn="ctr"/>
            <a:r>
              <a:rPr lang="en-US" b="1" dirty="0">
                <a:solidFill>
                  <a:srgbClr val="7030A0"/>
                </a:solidFill>
                <a:latin typeface="Times New Roman" panose="02020603050405020304" pitchFamily="18" charset="0"/>
                <a:cs typeface="Times New Roman" panose="02020603050405020304" pitchFamily="18" charset="0"/>
              </a:rPr>
              <a:t>Correlation Heatmap</a:t>
            </a:r>
            <a:endParaRPr lang="en-IN" dirty="0">
              <a:solidFill>
                <a:srgbClr val="7030A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7E6F5301-5054-3B18-03AB-03F9D28C53C0}"/>
              </a:ext>
            </a:extLst>
          </p:cNvPr>
          <p:cNvPicPr>
            <a:picLocks noGrp="1" noChangeAspect="1"/>
          </p:cNvPicPr>
          <p:nvPr>
            <p:ph idx="1"/>
          </p:nvPr>
        </p:nvPicPr>
        <p:blipFill>
          <a:blip r:embed="rId2"/>
          <a:stretch>
            <a:fillRect/>
          </a:stretch>
        </p:blipFill>
        <p:spPr>
          <a:xfrm>
            <a:off x="7251032" y="2161780"/>
            <a:ext cx="4940968" cy="3633787"/>
          </a:xfrm>
          <a:prstGeom prst="rect">
            <a:avLst/>
          </a:prstGeom>
        </p:spPr>
      </p:pic>
      <p:sp>
        <p:nvSpPr>
          <p:cNvPr id="7" name="TextBox 6">
            <a:extLst>
              <a:ext uri="{FF2B5EF4-FFF2-40B4-BE49-F238E27FC236}">
                <a16:creationId xmlns:a16="http://schemas.microsoft.com/office/drawing/2014/main" id="{94A01706-AAF6-1FEF-0E8F-8E312415450C}"/>
              </a:ext>
            </a:extLst>
          </p:cNvPr>
          <p:cNvSpPr txBox="1"/>
          <p:nvPr/>
        </p:nvSpPr>
        <p:spPr>
          <a:xfrm>
            <a:off x="368967" y="2277394"/>
            <a:ext cx="7218949" cy="4093428"/>
          </a:xfrm>
          <a:prstGeom prst="rect">
            <a:avLst/>
          </a:prstGeom>
          <a:noFill/>
        </p:spPr>
        <p:txBody>
          <a:bodyPr wrap="square">
            <a:spAutoFit/>
          </a:bodyPr>
          <a:lstStyle/>
          <a:p>
            <a:pPr algn="l"/>
            <a:r>
              <a:rPr lang="en-US" sz="2000" b="0" i="0" dirty="0">
                <a:solidFill>
                  <a:srgbClr val="0A0A0A"/>
                </a:solidFill>
                <a:effectLst/>
                <a:latin typeface="Times New Roman" panose="02020603050405020304" pitchFamily="18" charset="0"/>
                <a:cs typeface="Times New Roman" panose="02020603050405020304" pitchFamily="18" charset="0"/>
              </a:rPr>
              <a:t>Total Stops and Itself</a:t>
            </a:r>
            <a:r>
              <a:rPr lang="en-US" sz="2000" b="0" i="0" dirty="0">
                <a:solidFill>
                  <a:srgbClr val="1D1C1B"/>
                </a:solidFill>
                <a:effectLst/>
                <a:latin typeface="Times New Roman" panose="02020603050405020304" pitchFamily="18" charset="0"/>
                <a:cs typeface="Times New Roman" panose="02020603050405020304" pitchFamily="18" charset="0"/>
              </a:rPr>
              <a:t>: The correlation is 1.00, which is expected since it’s comparing a feature to itself.</a:t>
            </a:r>
          </a:p>
          <a:p>
            <a:pPr algn="l">
              <a:buFont typeface="Arial" panose="020B0604020202020204" pitchFamily="34" charset="0"/>
              <a:buChar char="•"/>
            </a:pPr>
            <a:r>
              <a:rPr lang="en-US" sz="2000" b="0" i="0" dirty="0">
                <a:solidFill>
                  <a:srgbClr val="0A0A0A"/>
                </a:solidFill>
                <a:effectLst/>
                <a:latin typeface="Times New Roman" panose="02020603050405020304" pitchFamily="18" charset="0"/>
                <a:cs typeface="Times New Roman" panose="02020603050405020304" pitchFamily="18" charset="0"/>
              </a:rPr>
              <a:t>Price and Total Stops</a:t>
            </a:r>
            <a:r>
              <a:rPr lang="en-US" sz="2000" b="0" i="0" dirty="0">
                <a:solidFill>
                  <a:srgbClr val="1D1C1B"/>
                </a:solidFill>
                <a:effectLst/>
                <a:latin typeface="Times New Roman" panose="02020603050405020304" pitchFamily="18" charset="0"/>
                <a:cs typeface="Times New Roman" panose="02020603050405020304" pitchFamily="18" charset="0"/>
              </a:rPr>
              <a:t>: A moderate correlation of 0.60 shows that flights with more stops tend to have higher prices.</a:t>
            </a:r>
          </a:p>
          <a:p>
            <a:pPr algn="l">
              <a:buFont typeface="Arial" panose="020B0604020202020204" pitchFamily="34" charset="0"/>
              <a:buChar char="•"/>
            </a:pPr>
            <a:r>
              <a:rPr lang="en-US" sz="2000" b="0" i="0" dirty="0">
                <a:solidFill>
                  <a:srgbClr val="0A0A0A"/>
                </a:solidFill>
                <a:effectLst/>
                <a:latin typeface="Times New Roman" panose="02020603050405020304" pitchFamily="18" charset="0"/>
                <a:cs typeface="Times New Roman" panose="02020603050405020304" pitchFamily="18" charset="0"/>
              </a:rPr>
              <a:t>Price and Duration (Minutes)</a:t>
            </a:r>
            <a:r>
              <a:rPr lang="en-US" sz="2000" b="0" i="0" dirty="0">
                <a:solidFill>
                  <a:srgbClr val="1D1C1B"/>
                </a:solidFill>
                <a:effectLst/>
                <a:latin typeface="Times New Roman" panose="02020603050405020304" pitchFamily="18" charset="0"/>
                <a:cs typeface="Times New Roman" panose="02020603050405020304" pitchFamily="18" charset="0"/>
              </a:rPr>
              <a:t>: A strong correlation of 0.74 means longer flights usually cost more.</a:t>
            </a:r>
          </a:p>
          <a:p>
            <a:pPr algn="l">
              <a:buFont typeface="Arial" panose="020B0604020202020204" pitchFamily="34" charset="0"/>
              <a:buChar char="•"/>
            </a:pPr>
            <a:r>
              <a:rPr lang="en-US" sz="2000" b="0" i="0" dirty="0">
                <a:solidFill>
                  <a:srgbClr val="0A0A0A"/>
                </a:solidFill>
                <a:effectLst/>
                <a:latin typeface="Times New Roman" panose="02020603050405020304" pitchFamily="18" charset="0"/>
                <a:cs typeface="Times New Roman" panose="02020603050405020304" pitchFamily="18" charset="0"/>
              </a:rPr>
              <a:t>Duration and Total Stops</a:t>
            </a:r>
            <a:r>
              <a:rPr lang="en-US" sz="2000" b="0" i="0" dirty="0">
                <a:solidFill>
                  <a:srgbClr val="1D1C1B"/>
                </a:solidFill>
                <a:effectLst/>
                <a:latin typeface="Times New Roman" panose="02020603050405020304" pitchFamily="18" charset="0"/>
                <a:cs typeface="Times New Roman" panose="02020603050405020304" pitchFamily="18" charset="0"/>
              </a:rPr>
              <a:t>: A moderate correlation of 0.51 suggests that flights with more stops often take longer.</a:t>
            </a:r>
          </a:p>
          <a:p>
            <a:pPr algn="l">
              <a:buFont typeface="Arial" panose="020B0604020202020204" pitchFamily="34" charset="0"/>
              <a:buChar char="•"/>
            </a:pPr>
            <a:r>
              <a:rPr lang="en-US" sz="2000" b="0" i="0" dirty="0">
                <a:solidFill>
                  <a:srgbClr val="0A0A0A"/>
                </a:solidFill>
                <a:effectLst/>
                <a:latin typeface="Times New Roman" panose="02020603050405020304" pitchFamily="18" charset="0"/>
                <a:cs typeface="Times New Roman" panose="02020603050405020304" pitchFamily="18" charset="0"/>
              </a:rPr>
              <a:t>Duration and Price</a:t>
            </a:r>
            <a:r>
              <a:rPr lang="en-US" sz="2000" b="0" i="0" dirty="0">
                <a:solidFill>
                  <a:srgbClr val="1D1C1B"/>
                </a:solidFill>
                <a:effectLst/>
                <a:latin typeface="Times New Roman" panose="02020603050405020304" pitchFamily="18" charset="0"/>
                <a:cs typeface="Times New Roman" panose="02020603050405020304" pitchFamily="18" charset="0"/>
              </a:rPr>
              <a:t>: A strong correlation of 0.74 indicates that flight duration is a big factor in determining price.</a:t>
            </a:r>
          </a:p>
          <a:p>
            <a:pPr algn="l">
              <a:buFont typeface="Arial" panose="020B0604020202020204" pitchFamily="34" charset="0"/>
              <a:buChar char="•"/>
            </a:pPr>
            <a:r>
              <a:rPr lang="en-US" sz="2000" b="0" i="0" dirty="0">
                <a:solidFill>
                  <a:srgbClr val="0A0A0A"/>
                </a:solidFill>
                <a:effectLst/>
                <a:latin typeface="Times New Roman" panose="02020603050405020304" pitchFamily="18" charset="0"/>
                <a:cs typeface="Times New Roman" panose="02020603050405020304" pitchFamily="18" charset="0"/>
              </a:rPr>
              <a:t>Overall</a:t>
            </a:r>
            <a:r>
              <a:rPr lang="en-US" sz="2000" b="0" i="0" dirty="0">
                <a:solidFill>
                  <a:srgbClr val="1D1C1B"/>
                </a:solidFill>
                <a:effectLst/>
                <a:latin typeface="Times New Roman" panose="02020603050405020304" pitchFamily="18" charset="0"/>
                <a:cs typeface="Times New Roman" panose="02020603050405020304" pitchFamily="18" charset="0"/>
              </a:rPr>
              <a:t>: No negative correlations (below 0) are seen, meaning all features move in the same direction. The strong links between price, duration, and stops can help predict ticket prices better</a:t>
            </a:r>
          </a:p>
        </p:txBody>
      </p:sp>
    </p:spTree>
    <p:extLst>
      <p:ext uri="{BB962C8B-B14F-4D97-AF65-F5344CB8AC3E}">
        <p14:creationId xmlns:p14="http://schemas.microsoft.com/office/powerpoint/2010/main" val="1999883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C063F-E296-CBD4-A2EA-1E490584FB70}"/>
              </a:ext>
            </a:extLst>
          </p:cNvPr>
          <p:cNvSpPr>
            <a:spLocks noGrp="1"/>
          </p:cNvSpPr>
          <p:nvPr>
            <p:ph type="title"/>
          </p:nvPr>
        </p:nvSpPr>
        <p:spPr/>
        <p:txBody>
          <a:bodyPr/>
          <a:lstStyle/>
          <a:p>
            <a:pPr algn="ctr"/>
            <a:r>
              <a:rPr lang="en-US" b="1" dirty="0">
                <a:solidFill>
                  <a:srgbClr val="7030A0"/>
                </a:solidFill>
                <a:latin typeface="Times New Roman" panose="02020603050405020304" pitchFamily="18" charset="0"/>
                <a:cs typeface="Times New Roman" panose="02020603050405020304" pitchFamily="18" charset="0"/>
              </a:rPr>
              <a:t> Bar Chart of Arrival Category</a:t>
            </a:r>
            <a:br>
              <a:rPr lang="en-US" b="1" dirty="0">
                <a:solidFill>
                  <a:srgbClr val="7030A0"/>
                </a:solidFill>
                <a:latin typeface="Times New Roman" panose="02020603050405020304" pitchFamily="18" charset="0"/>
                <a:cs typeface="Times New Roman" panose="02020603050405020304" pitchFamily="18" charset="0"/>
              </a:rPr>
            </a:br>
            <a:endParaRPr lang="en-IN" dirty="0">
              <a:solidFill>
                <a:srgbClr val="7030A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6C223BA8-85B2-85B6-9E22-327305CCCC28}"/>
              </a:ext>
            </a:extLst>
          </p:cNvPr>
          <p:cNvPicPr>
            <a:picLocks noGrp="1" noChangeAspect="1"/>
          </p:cNvPicPr>
          <p:nvPr>
            <p:ph idx="1"/>
          </p:nvPr>
        </p:nvPicPr>
        <p:blipFill>
          <a:blip r:embed="rId2"/>
          <a:stretch>
            <a:fillRect/>
          </a:stretch>
        </p:blipFill>
        <p:spPr>
          <a:xfrm>
            <a:off x="6411310" y="1754639"/>
            <a:ext cx="5507421" cy="4172585"/>
          </a:xfrm>
          <a:prstGeom prst="rect">
            <a:avLst/>
          </a:prstGeom>
        </p:spPr>
      </p:pic>
      <p:sp>
        <p:nvSpPr>
          <p:cNvPr id="7" name="TextBox 6">
            <a:extLst>
              <a:ext uri="{FF2B5EF4-FFF2-40B4-BE49-F238E27FC236}">
                <a16:creationId xmlns:a16="http://schemas.microsoft.com/office/drawing/2014/main" id="{5A4E1917-2842-5DB9-E0B2-DC0A4C4BD863}"/>
              </a:ext>
            </a:extLst>
          </p:cNvPr>
          <p:cNvSpPr txBox="1"/>
          <p:nvPr/>
        </p:nvSpPr>
        <p:spPr>
          <a:xfrm>
            <a:off x="436812" y="1754639"/>
            <a:ext cx="6381082" cy="4401205"/>
          </a:xfrm>
          <a:prstGeom prst="rect">
            <a:avLst/>
          </a:prstGeom>
          <a:noFill/>
        </p:spPr>
        <p:txBody>
          <a:bodyPr wrap="square">
            <a:spAutoFit/>
          </a:bodyPr>
          <a:lstStyle/>
          <a:p>
            <a:pPr>
              <a:buNone/>
            </a:pPr>
            <a:r>
              <a:rPr lang="en-US" sz="2000" dirty="0">
                <a:effectLst/>
                <a:latin typeface="Times New Roman" panose="02020603050405020304" pitchFamily="18" charset="0"/>
                <a:cs typeface="Times New Roman" panose="02020603050405020304" pitchFamily="18" charset="0"/>
              </a:rPr>
              <a:t>This chart shows how many flights arrive at different times of day.</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Evening</a:t>
            </a:r>
            <a:r>
              <a:rPr lang="en-US" sz="2000" dirty="0">
                <a:latin typeface="Times New Roman" panose="02020603050405020304" pitchFamily="18" charset="0"/>
                <a:cs typeface="Times New Roman" panose="02020603050405020304" pitchFamily="18" charset="0"/>
              </a:rPr>
              <a:t>: The most flights arrive in the evening, with 2,708 flights.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Noon</a:t>
            </a:r>
            <a:r>
              <a:rPr lang="en-US" sz="2000" dirty="0">
                <a:latin typeface="Times New Roman" panose="02020603050405020304" pitchFamily="18" charset="0"/>
                <a:cs typeface="Times New Roman" panose="02020603050405020304" pitchFamily="18" charset="0"/>
              </a:rPr>
              <a:t>: Around 2,052 flights arrive at noon.</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Midnight</a:t>
            </a:r>
            <a:r>
              <a:rPr lang="en-US" sz="2000" dirty="0">
                <a:latin typeface="Times New Roman" panose="02020603050405020304" pitchFamily="18" charset="0"/>
                <a:cs typeface="Times New Roman" panose="02020603050405020304" pitchFamily="18" charset="0"/>
              </a:rPr>
              <a:t>: About 1,984 flights land at midnight.</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Late Evening</a:t>
            </a:r>
            <a:r>
              <a:rPr lang="en-US" sz="2000" dirty="0">
                <a:latin typeface="Times New Roman" panose="02020603050405020304" pitchFamily="18" charset="0"/>
                <a:cs typeface="Times New Roman" panose="02020603050405020304" pitchFamily="18" charset="0"/>
              </a:rPr>
              <a:t>: There are 1,835 flights arriving late in the evening.</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Morning</a:t>
            </a:r>
            <a:r>
              <a:rPr lang="en-US" sz="2000" dirty="0">
                <a:latin typeface="Times New Roman" panose="02020603050405020304" pitchFamily="18" charset="0"/>
                <a:cs typeface="Times New Roman" panose="02020603050405020304" pitchFamily="18" charset="0"/>
              </a:rPr>
              <a:t>: Around 1,735 flights arrive in the morning.</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Early Morning</a:t>
            </a:r>
            <a:r>
              <a:rPr lang="en-US" sz="2000" dirty="0">
                <a:latin typeface="Times New Roman" panose="02020603050405020304" pitchFamily="18" charset="0"/>
                <a:cs typeface="Times New Roman" panose="02020603050405020304" pitchFamily="18" charset="0"/>
              </a:rPr>
              <a:t>: The fewest flights, only 469, arrive early in the morning.</a:t>
            </a:r>
          </a:p>
          <a:p>
            <a:pPr>
              <a:buNone/>
            </a:pPr>
            <a:r>
              <a:rPr lang="en-US" sz="2000" b="1" dirty="0">
                <a:effectLst/>
                <a:latin typeface="Times New Roman" panose="02020603050405020304" pitchFamily="18" charset="0"/>
                <a:cs typeface="Times New Roman" panose="02020603050405020304" pitchFamily="18" charset="0"/>
              </a:rPr>
              <a:t>What it Means</a:t>
            </a:r>
            <a:r>
              <a:rPr lang="en-US" sz="2000" dirty="0">
                <a:effectLst/>
                <a:latin typeface="Times New Roman" panose="02020603050405020304" pitchFamily="18" charset="0"/>
                <a:cs typeface="Times New Roman" panose="02020603050405020304" pitchFamily="18" charset="0"/>
              </a:rPr>
              <a:t>: Most flights happen in the evening, and early morning has the least activity. This could help plan flight schedules or predict busy times</a:t>
            </a:r>
            <a:r>
              <a:rPr lang="en-US" dirty="0">
                <a:effectLst/>
              </a:rPr>
              <a:t>.</a:t>
            </a:r>
          </a:p>
        </p:txBody>
      </p:sp>
    </p:spTree>
    <p:extLst>
      <p:ext uri="{BB962C8B-B14F-4D97-AF65-F5344CB8AC3E}">
        <p14:creationId xmlns:p14="http://schemas.microsoft.com/office/powerpoint/2010/main" val="25039571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CE64F-5CD3-4A96-A1CA-B3D5C3C083DA}"/>
              </a:ext>
            </a:extLst>
          </p:cNvPr>
          <p:cNvSpPr>
            <a:spLocks noGrp="1"/>
          </p:cNvSpPr>
          <p:nvPr>
            <p:ph type="title"/>
          </p:nvPr>
        </p:nvSpPr>
        <p:spPr>
          <a:xfrm>
            <a:off x="575894" y="729658"/>
            <a:ext cx="11029616" cy="617361"/>
          </a:xfrm>
        </p:spPr>
        <p:txBody>
          <a:bodyPr/>
          <a:lstStyle/>
          <a:p>
            <a:pPr algn="ctr"/>
            <a:r>
              <a:rPr lang="en-IN" dirty="0">
                <a:solidFill>
                  <a:srgbClr val="7030A0"/>
                </a:solidFill>
              </a:rPr>
              <a:t>Introduction to machine learning</a:t>
            </a:r>
          </a:p>
        </p:txBody>
      </p:sp>
      <p:sp>
        <p:nvSpPr>
          <p:cNvPr id="4" name="TextBox 3">
            <a:extLst>
              <a:ext uri="{FF2B5EF4-FFF2-40B4-BE49-F238E27FC236}">
                <a16:creationId xmlns:a16="http://schemas.microsoft.com/office/drawing/2014/main" id="{4D4798E0-62CE-148B-40FD-E7820ED47A13}"/>
              </a:ext>
            </a:extLst>
          </p:cNvPr>
          <p:cNvSpPr txBox="1"/>
          <p:nvPr/>
        </p:nvSpPr>
        <p:spPr>
          <a:xfrm>
            <a:off x="310083" y="1347019"/>
            <a:ext cx="11029616" cy="5324535"/>
          </a:xfrm>
          <a:prstGeom prst="rect">
            <a:avLst/>
          </a:prstGeom>
          <a:noFill/>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Machine Learning (ML) is a </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subset of Artificial Intelligence (AI)</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that focuses on training algorithms to learn from data and make predictions or decisions </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without being explicitly programmed</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Instead of following fixed instructions, ML systems identify patterns and trends in data to improve their performance over time.</a:t>
            </a:r>
            <a:endPar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00B0F0"/>
                </a:solidFill>
                <a:effectLst/>
                <a:uLnTx/>
                <a:uFillTx/>
                <a:latin typeface="Times New Roman" panose="02020603050405020304" pitchFamily="18" charset="0"/>
                <a:cs typeface="Times New Roman" panose="02020603050405020304" pitchFamily="18" charset="0"/>
              </a:rPr>
              <a:t>Types of Machine Learning </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0" cap="none" spc="0" normalizeH="0" baseline="0" noProof="0" dirty="0">
                <a:ln>
                  <a:noFill/>
                </a:ln>
                <a:solidFill>
                  <a:srgbClr val="00B0F0"/>
                </a:solidFill>
                <a:effectLst/>
                <a:uLnTx/>
                <a:uFillTx/>
                <a:latin typeface="Times New Roman" panose="02020603050405020304" pitchFamily="18" charset="0"/>
                <a:cs typeface="Times New Roman" panose="02020603050405020304" pitchFamily="18" charset="0"/>
              </a:rPr>
              <a:t>Supervised Learning</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The algorithm is trained on </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labeled data</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(data with input-output pairs).</a:t>
            </a:r>
          </a:p>
          <a:p>
            <a:pPr marL="0" marR="0" lvl="1" indent="0" algn="just"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It learns the relationship between input and output variables to make predictions on new data.</a:t>
            </a:r>
          </a:p>
          <a:p>
            <a:pPr marL="0" marR="0" lvl="1" indent="0" algn="just"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Example:</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Predicting loan approval based on applicant details.</a:t>
            </a:r>
            <a:endPar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0" cap="none" spc="0" normalizeH="0" baseline="0" noProof="0" dirty="0">
                <a:ln>
                  <a:noFill/>
                </a:ln>
                <a:solidFill>
                  <a:srgbClr val="00B0F0"/>
                </a:solidFill>
                <a:effectLst/>
                <a:uLnTx/>
                <a:uFillTx/>
                <a:latin typeface="Times New Roman" panose="02020603050405020304" pitchFamily="18" charset="0"/>
                <a:cs typeface="Times New Roman" panose="02020603050405020304" pitchFamily="18" charset="0"/>
              </a:rPr>
              <a:t>Unsupervised Learning</a:t>
            </a:r>
            <a:endParaRPr kumimoji="0" lang="en-US" sz="2000" b="0" i="0" u="none" strike="noStrike" kern="0" cap="none" spc="0" normalizeH="0" baseline="0" noProof="0" dirty="0">
              <a:ln>
                <a:noFill/>
              </a:ln>
              <a:solidFill>
                <a:srgbClr val="00B0F0"/>
              </a:solidFill>
              <a:effectLst/>
              <a:uLnTx/>
              <a:uFillTx/>
              <a:latin typeface="Times New Roman" panose="02020603050405020304" pitchFamily="18" charset="0"/>
              <a:cs typeface="Times New Roman" panose="02020603050405020304" pitchFamily="18" charset="0"/>
            </a:endParaRPr>
          </a:p>
          <a:p>
            <a:pPr marL="0" marR="0" lvl="1" indent="0" algn="just"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The algorithm is trained on </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unlabeled data</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(data without predefined outputs).</a:t>
            </a:r>
          </a:p>
          <a:p>
            <a:pPr marL="0" marR="0" lvl="1" indent="0" algn="just"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It discovers </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hidden patterns or groupings</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within the data.</a:t>
            </a:r>
          </a:p>
          <a:p>
            <a:pPr marL="0" marR="0" lvl="1" indent="0" algn="just"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Example: </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Customer segmentation in banking or marketing.</a:t>
            </a:r>
            <a:endPar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rPr>
              <a:t>Reinforcement Learning</a:t>
            </a:r>
            <a:endParaRPr kumimoji="0" lang="en-US" sz="2000" b="0" i="0" u="none" strike="noStrike" kern="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endParaRPr>
          </a:p>
          <a:p>
            <a:pPr marL="0" marR="0" lvl="1" indent="0" algn="just"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The algorithm learns through </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trial and error</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by interacting with an environment.</a:t>
            </a:r>
          </a:p>
          <a:p>
            <a:pPr marL="0" marR="0" lvl="1" indent="0" algn="just"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It receives </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rewards or penalties</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for its actions and improves decisions over time.</a:t>
            </a:r>
          </a:p>
          <a:p>
            <a:pPr marL="0" marR="0" lvl="1" indent="0" algn="just"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Example: </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Training a robot or self-driving car to navigate safely.</a:t>
            </a:r>
          </a:p>
        </p:txBody>
      </p:sp>
    </p:spTree>
    <p:extLst>
      <p:ext uri="{BB962C8B-B14F-4D97-AF65-F5344CB8AC3E}">
        <p14:creationId xmlns:p14="http://schemas.microsoft.com/office/powerpoint/2010/main" val="22379250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9FF38E-9863-8444-33FC-DC53DA9742C0}"/>
              </a:ext>
            </a:extLst>
          </p:cNvPr>
          <p:cNvSpPr>
            <a:spLocks noGrp="1"/>
          </p:cNvSpPr>
          <p:nvPr>
            <p:ph type="title"/>
          </p:nvPr>
        </p:nvSpPr>
        <p:spPr>
          <a:xfrm>
            <a:off x="581192" y="702156"/>
            <a:ext cx="11029616" cy="1038154"/>
          </a:xfrm>
        </p:spPr>
        <p:txBody>
          <a:bodyPr/>
          <a:lstStyle/>
          <a:p>
            <a:pPr algn="ctr"/>
            <a:r>
              <a:rPr lang="en-IN" dirty="0">
                <a:solidFill>
                  <a:srgbClr val="7030A0"/>
                </a:solidFill>
              </a:rPr>
              <a:t>Introduction to DEEP learning</a:t>
            </a:r>
            <a:endParaRPr lang="en-IN" dirty="0"/>
          </a:p>
        </p:txBody>
      </p:sp>
      <p:sp>
        <p:nvSpPr>
          <p:cNvPr id="3" name="Content Placeholder 2">
            <a:extLst>
              <a:ext uri="{FF2B5EF4-FFF2-40B4-BE49-F238E27FC236}">
                <a16:creationId xmlns:a16="http://schemas.microsoft.com/office/drawing/2014/main" id="{10AEFD79-775D-6264-59F4-4A439E33B6F5}"/>
              </a:ext>
            </a:extLst>
          </p:cNvPr>
          <p:cNvSpPr>
            <a:spLocks noGrp="1"/>
          </p:cNvSpPr>
          <p:nvPr>
            <p:ph idx="1"/>
          </p:nvPr>
        </p:nvSpPr>
        <p:spPr>
          <a:xfrm>
            <a:off x="581192" y="1897626"/>
            <a:ext cx="11029615" cy="4077724"/>
          </a:xfrm>
        </p:spPr>
        <p:txBody>
          <a:bodyPr>
            <a:normAutofit fontScale="70000" lnSpcReduction="20000"/>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9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Deep Learning is a subset of </a:t>
            </a:r>
            <a:r>
              <a:rPr kumimoji="0" lang="en-US" sz="29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Machine Learning</a:t>
            </a:r>
            <a:r>
              <a:rPr kumimoji="0" lang="en-US" sz="29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that uses </a:t>
            </a:r>
            <a:r>
              <a:rPr kumimoji="0" lang="en-US" sz="29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artificial neural networks</a:t>
            </a:r>
            <a:r>
              <a:rPr kumimoji="0" lang="en-US" sz="29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with multiple layers (deep architectures) to automatically learn complex patterns from large amounts of flight-related data.</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9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Unlike traditional ML, deep learning minimizes the need for manual feature engineering, as the network learns directly from structured features (like flight timings, duration, and stops) or even unstructured data (like text-based route descriptions).</a:t>
            </a:r>
          </a:p>
          <a:p>
            <a:pPr marL="0" marR="0" lvl="0" indent="0" defTabSz="914400" eaLnBrk="1" fontAlgn="auto" latinLnBrk="0" hangingPunct="1">
              <a:lnSpc>
                <a:spcPct val="100000"/>
              </a:lnSpc>
              <a:spcBef>
                <a:spcPts val="0"/>
              </a:spcBef>
              <a:spcAft>
                <a:spcPts val="0"/>
              </a:spcAft>
              <a:buClrTx/>
              <a:buSzTx/>
              <a:buFontTx/>
              <a:buNone/>
              <a:tabLst/>
              <a:defRPr/>
            </a:pPr>
            <a:br>
              <a:rPr kumimoji="0" lang="en-US" sz="29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br>
            <a:r>
              <a:rPr kumimoji="0" lang="en-US" sz="29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Types of Deep Learning Architectures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9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kumimoji="0" lang="en-US" sz="29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Artificial Neural Networks (ANNs)</a:t>
            </a:r>
            <a:endParaRPr kumimoji="0" lang="en-US" sz="29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9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Simplest form of deep learning, composed of layers of interconnected neurons (input, hidden, output).</a:t>
            </a: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9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Each layer processes flight-related features (airline, stops, duration) and passes them forward.</a:t>
            </a: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9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Example:</a:t>
            </a:r>
            <a:r>
              <a:rPr kumimoji="0" lang="en-US" sz="29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Predicting flight ticket price based on multiple flight details.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9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29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kumimoji="0" lang="en-US" sz="29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Convolutional Neural Networks (CNNs)</a:t>
            </a:r>
            <a:endParaRPr kumimoji="0" lang="en-US" sz="29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9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Specialized for recognizing spatial and structured patterns.</a:t>
            </a: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9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Can be applied if flight data is represented as </a:t>
            </a:r>
            <a:r>
              <a:rPr kumimoji="0" lang="en-US" sz="29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images/heatmaps</a:t>
            </a:r>
            <a:r>
              <a:rPr kumimoji="0" lang="en-US" sz="29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(e.g., routes or demand patterns).</a:t>
            </a: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9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Example:</a:t>
            </a:r>
            <a:r>
              <a:rPr kumimoji="0" lang="en-US" sz="29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Analyzing seasonal flight trends through visual demand maps.</a:t>
            </a:r>
          </a:p>
          <a:p>
            <a:endParaRPr lang="en-IN" dirty="0"/>
          </a:p>
        </p:txBody>
      </p:sp>
    </p:spTree>
    <p:extLst>
      <p:ext uri="{BB962C8B-B14F-4D97-AF65-F5344CB8AC3E}">
        <p14:creationId xmlns:p14="http://schemas.microsoft.com/office/powerpoint/2010/main" val="250002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039ABB-BFCB-5B6E-7B48-C7E763A1D710}"/>
              </a:ext>
            </a:extLst>
          </p:cNvPr>
          <p:cNvSpPr>
            <a:spLocks noGrp="1"/>
          </p:cNvSpPr>
          <p:nvPr>
            <p:ph idx="4294967295"/>
          </p:nvPr>
        </p:nvSpPr>
        <p:spPr>
          <a:xfrm>
            <a:off x="481262" y="983226"/>
            <a:ext cx="10548687" cy="5496231"/>
          </a:xfrm>
        </p:spPr>
        <p:txBody>
          <a:bodyPr>
            <a:norm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Recurrent Neural Networks (RNNs)</a:t>
            </a:r>
            <a:endPar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Designed for sequential/time-series data.</a:t>
            </a: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Maintains memory of past values (important for flight price trends).</a:t>
            </a: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Example:</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Predicting future ticket prices based on historical flight price sequences.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Generative Adversarial Networks (GANs)</a:t>
            </a:r>
            <a:endPar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Consist of two models: a </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generator</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(creates synthetic data) and a </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discriminator</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(evaluates authenticity).</a:t>
            </a: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Useful for </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data augmentation</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when historical flight records are limited.</a:t>
            </a: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Example:</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Generating synthetic flight records to balance datasets across different routes.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Deep Reinforcement Learning (DRL)</a:t>
            </a:r>
            <a:endPar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Combines deep learning with reinforcement learning.</a:t>
            </a: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Learns by interacting with the environment and improving decisions over time.</a:t>
            </a: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Example:</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Dynamic airline pricing strategies that adapt to demand and competitor pricing</a:t>
            </a:r>
            <a:r>
              <a:rPr kumimoji="0" lang="en-US" sz="2000" b="0" i="0" u="none" strike="noStrike" kern="0" cap="none" spc="0" normalizeH="0" baseline="0" noProof="0" dirty="0">
                <a:ln>
                  <a:noFill/>
                </a:ln>
                <a:solidFill>
                  <a:sysClr val="windowText" lastClr="000000"/>
                </a:solidFill>
                <a:effectLst/>
                <a:uLnTx/>
                <a:uFillTx/>
              </a:rPr>
              <a:t>.</a:t>
            </a:r>
          </a:p>
          <a:p>
            <a:endParaRPr lang="en-IN" dirty="0"/>
          </a:p>
        </p:txBody>
      </p:sp>
    </p:spTree>
    <p:extLst>
      <p:ext uri="{BB962C8B-B14F-4D97-AF65-F5344CB8AC3E}">
        <p14:creationId xmlns:p14="http://schemas.microsoft.com/office/powerpoint/2010/main" val="31359754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78C3E-C414-92D1-ED09-D00EC38F471F}"/>
              </a:ext>
            </a:extLst>
          </p:cNvPr>
          <p:cNvSpPr>
            <a:spLocks noGrp="1"/>
          </p:cNvSpPr>
          <p:nvPr>
            <p:ph type="title"/>
          </p:nvPr>
        </p:nvSpPr>
        <p:spPr>
          <a:xfrm>
            <a:off x="581192" y="702156"/>
            <a:ext cx="11029616" cy="871005"/>
          </a:xfrm>
        </p:spPr>
        <p:txBody>
          <a:bodyPr/>
          <a:lstStyle/>
          <a:p>
            <a:pPr algn="ctr"/>
            <a:r>
              <a:rPr lang="en-IN" dirty="0">
                <a:solidFill>
                  <a:srgbClr val="7030A0"/>
                </a:solidFill>
              </a:rPr>
              <a:t>Selected algorithms</a:t>
            </a:r>
          </a:p>
        </p:txBody>
      </p:sp>
      <p:sp>
        <p:nvSpPr>
          <p:cNvPr id="3" name="Content Placeholder 2">
            <a:extLst>
              <a:ext uri="{FF2B5EF4-FFF2-40B4-BE49-F238E27FC236}">
                <a16:creationId xmlns:a16="http://schemas.microsoft.com/office/drawing/2014/main" id="{E7A3C684-10CA-6EE9-1DA5-F174BCB13244}"/>
              </a:ext>
            </a:extLst>
          </p:cNvPr>
          <p:cNvSpPr>
            <a:spLocks noGrp="1"/>
          </p:cNvSpPr>
          <p:nvPr>
            <p:ph idx="1"/>
          </p:nvPr>
        </p:nvSpPr>
        <p:spPr>
          <a:xfrm>
            <a:off x="581193" y="1890876"/>
            <a:ext cx="11029615" cy="4578750"/>
          </a:xfrm>
        </p:spPr>
        <p:txBody>
          <a:bodyPr>
            <a:normAutofit fontScale="85000" lnSpcReduction="20000"/>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1.Linear Regression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Linear Regression is a statistical method used for predicting continuous values, such as flight ticket prices. It models the relationship between flight features (airline, source, destination, duration, stops, departure time, etc.) and the ticket price by fitting a best-fit line. It is simple, interpretable, and often used as a baseline model for price prediction.</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2. Random Forest Regressor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Random Forest is an ensemble learning method that builds multiple decision trees and averages their outputs to improve prediction accuracy. It reduces overfitting and handles both categorical and numerical flight features effectively.</a:t>
            </a:r>
            <a:br>
              <a:rPr kumimoji="0" lang="en-US" sz="2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br>
            <a:r>
              <a:rPr kumimoji="0" lang="en-US" sz="2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Example:</a:t>
            </a:r>
            <a:r>
              <a:rPr kumimoji="0" lang="en-US" sz="2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Predicting flight ticket prices by considering airline, stops, duration, and travel class.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3. XGBoost Regressor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XGBoost is an advanced boosting algorithm designed for speed and performance. It builds sequential trees where each new tree corrects the errors of the previous one. It handles large datasets efficiently and captures complex relationships in flight data.</a:t>
            </a:r>
            <a:br>
              <a:rPr kumimoji="0" lang="en-US" sz="2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br>
            <a:r>
              <a:rPr kumimoji="0" lang="en-US" sz="24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Example:</a:t>
            </a:r>
            <a:r>
              <a:rPr kumimoji="0" lang="en-US" sz="24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Predicting flight prices by capturing non-linear relationships such as surge pricing during holidays or weekends.</a:t>
            </a:r>
          </a:p>
          <a:p>
            <a:endParaRPr lang="en-IN" dirty="0"/>
          </a:p>
        </p:txBody>
      </p:sp>
    </p:spTree>
    <p:extLst>
      <p:ext uri="{BB962C8B-B14F-4D97-AF65-F5344CB8AC3E}">
        <p14:creationId xmlns:p14="http://schemas.microsoft.com/office/powerpoint/2010/main" val="32070119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38B75A-4DCB-58BB-EA44-6B8962578A4D}"/>
              </a:ext>
            </a:extLst>
          </p:cNvPr>
          <p:cNvSpPr>
            <a:spLocks noGrp="1"/>
          </p:cNvSpPr>
          <p:nvPr>
            <p:ph idx="4294967295"/>
          </p:nvPr>
        </p:nvSpPr>
        <p:spPr>
          <a:xfrm>
            <a:off x="513346" y="737419"/>
            <a:ext cx="10516603" cy="6037007"/>
          </a:xfrm>
        </p:spPr>
        <p:txBody>
          <a:bodyPr>
            <a:normAutofit fontScale="32500" lnSpcReduction="20000"/>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2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4.Gradient Boosting Regressor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62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Gradient Boosting builds decision trees sequentially, where each new tree corrects the errors of the previous ones. It captures complex pricing trends, seasonal effects, and non-linear interactions between flight features, making it highly accurate.</a:t>
            </a:r>
          </a:p>
          <a:p>
            <a:pPr marL="0" marR="0" lvl="0" indent="0" defTabSz="914400" eaLnBrk="1" fontAlgn="auto" latinLnBrk="0" hangingPunct="1">
              <a:lnSpc>
                <a:spcPct val="100000"/>
              </a:lnSpc>
              <a:spcBef>
                <a:spcPts val="0"/>
              </a:spcBef>
              <a:spcAft>
                <a:spcPts val="0"/>
              </a:spcAft>
              <a:buClrTx/>
              <a:buSzTx/>
              <a:buFontTx/>
              <a:buNone/>
              <a:tabLst/>
              <a:defRPr/>
            </a:pPr>
            <a:br>
              <a:rPr kumimoji="0" lang="en-US" sz="62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br>
            <a:endParaRPr kumimoji="0" lang="en-US" sz="62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62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5. XGBoost Regressor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62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XGBoost is an advanced gradient boosting algorithm optimized for speed and performance. It handles missing data, captures complex non-linear relationships, and is widely used in competitions. It often gives the best results in flight price prediction tasks.</a:t>
            </a:r>
          </a:p>
          <a:p>
            <a:pPr marL="0" marR="0" lvl="0" indent="0" defTabSz="914400" eaLnBrk="1" fontAlgn="auto" latinLnBrk="0" hangingPunct="1">
              <a:lnSpc>
                <a:spcPct val="100000"/>
              </a:lnSpc>
              <a:spcBef>
                <a:spcPts val="0"/>
              </a:spcBef>
              <a:spcAft>
                <a:spcPts val="0"/>
              </a:spcAft>
              <a:buClrTx/>
              <a:buSzTx/>
              <a:buFontTx/>
              <a:buNone/>
              <a:tabLst/>
              <a:defRPr/>
            </a:pPr>
            <a:br>
              <a:rPr kumimoji="0" lang="en-US" sz="62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br>
            <a:endParaRPr kumimoji="0" lang="en-US" sz="62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62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6. Multilayer Perceptron (MLP)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62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MLP is a deep learning model with fully connected layers that capture non-linear patterns. For flight prices, it learns complex relationships between features like airline, duration, stops, and departure time. Requires careful tuning and sufficient data.</a:t>
            </a:r>
          </a:p>
          <a:p>
            <a:pPr marL="0" marR="0" lvl="0" indent="0" defTabSz="914400" eaLnBrk="1" fontAlgn="auto" latinLnBrk="0" hangingPunct="1">
              <a:lnSpc>
                <a:spcPct val="100000"/>
              </a:lnSpc>
              <a:spcBef>
                <a:spcPts val="0"/>
              </a:spcBef>
              <a:spcAft>
                <a:spcPts val="0"/>
              </a:spcAft>
              <a:buClrTx/>
              <a:buSzTx/>
              <a:buFontTx/>
              <a:buNone/>
              <a:tabLst/>
              <a:defRPr/>
            </a:pPr>
            <a:br>
              <a:rPr kumimoji="0" lang="en-US" sz="62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br>
            <a:endParaRPr kumimoji="0" lang="en-US" sz="62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6200" b="1"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7. TabNet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62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TabNet is a deep learning model designed for tabular datasets. It uses attention mechanisms to identify the most important features at each step (e.g., airline, duration, stops). It is efficient, interpretable, and well-suited for structured flight data.</a:t>
            </a:r>
          </a:p>
          <a:p>
            <a:endParaRPr lang="en-IN" dirty="0"/>
          </a:p>
        </p:txBody>
      </p:sp>
    </p:spTree>
    <p:extLst>
      <p:ext uri="{BB962C8B-B14F-4D97-AF65-F5344CB8AC3E}">
        <p14:creationId xmlns:p14="http://schemas.microsoft.com/office/powerpoint/2010/main" val="27085896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1AADD3-F25F-D85F-A487-9060F47529B3}"/>
              </a:ext>
            </a:extLst>
          </p:cNvPr>
          <p:cNvSpPr>
            <a:spLocks noGrp="1"/>
          </p:cNvSpPr>
          <p:nvPr>
            <p:ph type="title"/>
          </p:nvPr>
        </p:nvSpPr>
        <p:spPr/>
        <p:txBody>
          <a:bodyPr/>
          <a:lstStyle/>
          <a:p>
            <a:pPr algn="ctr"/>
            <a:r>
              <a:rPr lang="en-IN" dirty="0">
                <a:solidFill>
                  <a:srgbClr val="7030A0"/>
                </a:solidFill>
              </a:rPr>
              <a:t>Model performance comparison</a:t>
            </a:r>
          </a:p>
        </p:txBody>
      </p:sp>
      <p:graphicFrame>
        <p:nvGraphicFramePr>
          <p:cNvPr id="6" name="Content Placeholder 5">
            <a:extLst>
              <a:ext uri="{FF2B5EF4-FFF2-40B4-BE49-F238E27FC236}">
                <a16:creationId xmlns:a16="http://schemas.microsoft.com/office/drawing/2014/main" id="{49316A49-6760-A009-A13E-8736938D49C1}"/>
              </a:ext>
            </a:extLst>
          </p:cNvPr>
          <p:cNvGraphicFramePr>
            <a:graphicFrameLocks noGrp="1"/>
          </p:cNvGraphicFramePr>
          <p:nvPr>
            <p:ph idx="1"/>
            <p:extLst>
              <p:ext uri="{D42A27DB-BD31-4B8C-83A1-F6EECF244321}">
                <p14:modId xmlns:p14="http://schemas.microsoft.com/office/powerpoint/2010/main" val="1468803439"/>
              </p:ext>
            </p:extLst>
          </p:nvPr>
        </p:nvGraphicFramePr>
        <p:xfrm>
          <a:off x="581026" y="2149641"/>
          <a:ext cx="11029952" cy="3785935"/>
        </p:xfrm>
        <a:graphic>
          <a:graphicData uri="http://schemas.openxmlformats.org/drawingml/2006/table">
            <a:tbl>
              <a:tblPr/>
              <a:tblGrid>
                <a:gridCol w="1378744">
                  <a:extLst>
                    <a:ext uri="{9D8B030D-6E8A-4147-A177-3AD203B41FA5}">
                      <a16:colId xmlns:a16="http://schemas.microsoft.com/office/drawing/2014/main" val="3917097081"/>
                    </a:ext>
                  </a:extLst>
                </a:gridCol>
                <a:gridCol w="1378744">
                  <a:extLst>
                    <a:ext uri="{9D8B030D-6E8A-4147-A177-3AD203B41FA5}">
                      <a16:colId xmlns:a16="http://schemas.microsoft.com/office/drawing/2014/main" val="683173940"/>
                    </a:ext>
                  </a:extLst>
                </a:gridCol>
                <a:gridCol w="1378744">
                  <a:extLst>
                    <a:ext uri="{9D8B030D-6E8A-4147-A177-3AD203B41FA5}">
                      <a16:colId xmlns:a16="http://schemas.microsoft.com/office/drawing/2014/main" val="1523217482"/>
                    </a:ext>
                  </a:extLst>
                </a:gridCol>
                <a:gridCol w="1378744">
                  <a:extLst>
                    <a:ext uri="{9D8B030D-6E8A-4147-A177-3AD203B41FA5}">
                      <a16:colId xmlns:a16="http://schemas.microsoft.com/office/drawing/2014/main" val="2205599731"/>
                    </a:ext>
                  </a:extLst>
                </a:gridCol>
                <a:gridCol w="1378744">
                  <a:extLst>
                    <a:ext uri="{9D8B030D-6E8A-4147-A177-3AD203B41FA5}">
                      <a16:colId xmlns:a16="http://schemas.microsoft.com/office/drawing/2014/main" val="2843256718"/>
                    </a:ext>
                  </a:extLst>
                </a:gridCol>
                <a:gridCol w="1378744">
                  <a:extLst>
                    <a:ext uri="{9D8B030D-6E8A-4147-A177-3AD203B41FA5}">
                      <a16:colId xmlns:a16="http://schemas.microsoft.com/office/drawing/2014/main" val="3936649236"/>
                    </a:ext>
                  </a:extLst>
                </a:gridCol>
                <a:gridCol w="1378744">
                  <a:extLst>
                    <a:ext uri="{9D8B030D-6E8A-4147-A177-3AD203B41FA5}">
                      <a16:colId xmlns:a16="http://schemas.microsoft.com/office/drawing/2014/main" val="2887632825"/>
                    </a:ext>
                  </a:extLst>
                </a:gridCol>
                <a:gridCol w="1378744">
                  <a:extLst>
                    <a:ext uri="{9D8B030D-6E8A-4147-A177-3AD203B41FA5}">
                      <a16:colId xmlns:a16="http://schemas.microsoft.com/office/drawing/2014/main" val="3397351362"/>
                    </a:ext>
                  </a:extLst>
                </a:gridCol>
              </a:tblGrid>
              <a:tr h="757187">
                <a:tc>
                  <a:txBody>
                    <a:bodyPr/>
                    <a:lstStyle/>
                    <a:p>
                      <a:pPr>
                        <a:buNone/>
                      </a:pPr>
                      <a:r>
                        <a:rPr lang="en-IN" sz="1800"/>
                        <a:t>Regression Model</a:t>
                      </a:r>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r>
                        <a:rPr lang="en-IN" sz="1800"/>
                        <a:t>R² Score</a:t>
                      </a:r>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r>
                        <a:rPr lang="en-IN" sz="1800"/>
                        <a:t>MAE</a:t>
                      </a:r>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tc>
                  <a:txBody>
                    <a:bodyPr/>
                    <a:lstStyle/>
                    <a:p>
                      <a:pPr>
                        <a:buNone/>
                      </a:pPr>
                      <a:r>
                        <a:rPr lang="en-IN" sz="1800"/>
                        <a:t>RMSE</a:t>
                      </a:r>
                    </a:p>
                  </a:txBody>
                  <a:tcPr anchor="ctr">
                    <a:lnL>
                      <a:noFill/>
                    </a:lnL>
                    <a:lnR>
                      <a:noFill/>
                    </a:lnR>
                    <a:lnT>
                      <a:noFill/>
                    </a:lnT>
                    <a:lnB>
                      <a:noFill/>
                    </a:lnB>
                    <a:noFill/>
                  </a:tcPr>
                </a:tc>
                <a:tc>
                  <a:txBody>
                    <a:bodyPr/>
                    <a:lstStyle/>
                    <a:p>
                      <a:pPr>
                        <a:buNone/>
                      </a:pPr>
                      <a:endParaRPr lang="en-IN" sz="1800"/>
                    </a:p>
                  </a:txBody>
                  <a:tcPr anchor="ctr">
                    <a:lnL>
                      <a:noFill/>
                    </a:lnL>
                    <a:lnR>
                      <a:noFill/>
                    </a:lnR>
                    <a:lnT>
                      <a:noFill/>
                    </a:lnT>
                    <a:lnB>
                      <a:noFill/>
                    </a:lnB>
                    <a:noFill/>
                  </a:tcPr>
                </a:tc>
                <a:extLst>
                  <a:ext uri="{0D108BD9-81ED-4DB2-BD59-A6C34878D82A}">
                    <a16:rowId xmlns:a16="http://schemas.microsoft.com/office/drawing/2014/main" val="707728227"/>
                  </a:ext>
                </a:extLst>
              </a:tr>
              <a:tr h="757187">
                <a:tc>
                  <a:txBody>
                    <a:bodyPr/>
                    <a:lstStyle/>
                    <a:p>
                      <a:pPr>
                        <a:buNone/>
                      </a:pPr>
                      <a:r>
                        <a:rPr lang="en-IN" sz="1800">
                          <a:effectLst/>
                        </a:rPr>
                        <a:t>Linear Regression</a:t>
                      </a:r>
                    </a:p>
                  </a:txBody>
                  <a:tcPr anchor="ctr">
                    <a:lnL>
                      <a:noFill/>
                    </a:lnL>
                    <a:lnR>
                      <a:noFill/>
                    </a:lnR>
                    <a:lnT>
                      <a:noFill/>
                    </a:lnT>
                    <a:lnB>
                      <a:noFill/>
                    </a:lnB>
                    <a:noFill/>
                  </a:tcPr>
                </a:tc>
                <a:tc>
                  <a:txBody>
                    <a:bodyPr/>
                    <a:lstStyle/>
                    <a:p>
                      <a:pPr>
                        <a:buNone/>
                      </a:pPr>
                      <a:endParaRPr lang="en-IN" sz="1800">
                        <a:effectLst/>
                      </a:endParaRPr>
                    </a:p>
                  </a:txBody>
                  <a:tcPr anchor="ctr">
                    <a:lnL>
                      <a:noFill/>
                    </a:lnL>
                    <a:lnR>
                      <a:noFill/>
                    </a:lnR>
                    <a:lnT>
                      <a:noFill/>
                    </a:lnT>
                    <a:lnB>
                      <a:noFill/>
                    </a:lnB>
                    <a:noFill/>
                  </a:tcPr>
                </a:tc>
                <a:tc>
                  <a:txBody>
                    <a:bodyPr/>
                    <a:lstStyle/>
                    <a:p>
                      <a:pPr>
                        <a:buNone/>
                      </a:pPr>
                      <a:r>
                        <a:rPr lang="en-IN" sz="1800">
                          <a:effectLst/>
                        </a:rPr>
                        <a:t>0.72</a:t>
                      </a:r>
                    </a:p>
                  </a:txBody>
                  <a:tcPr anchor="ctr">
                    <a:lnL>
                      <a:noFill/>
                    </a:lnL>
                    <a:lnR>
                      <a:noFill/>
                    </a:lnR>
                    <a:lnT>
                      <a:noFill/>
                    </a:lnT>
                    <a:lnB>
                      <a:noFill/>
                    </a:lnB>
                    <a:noFill/>
                  </a:tcPr>
                </a:tc>
                <a:tc>
                  <a:txBody>
                    <a:bodyPr/>
                    <a:lstStyle/>
                    <a:p>
                      <a:pPr>
                        <a:buNone/>
                      </a:pPr>
                      <a:endParaRPr lang="en-IN" sz="1800">
                        <a:effectLst/>
                      </a:endParaRPr>
                    </a:p>
                  </a:txBody>
                  <a:tcPr anchor="ctr">
                    <a:lnL>
                      <a:noFill/>
                    </a:lnL>
                    <a:lnR>
                      <a:noFill/>
                    </a:lnR>
                    <a:lnT>
                      <a:noFill/>
                    </a:lnT>
                    <a:lnB>
                      <a:noFill/>
                    </a:lnB>
                    <a:noFill/>
                  </a:tcPr>
                </a:tc>
                <a:tc>
                  <a:txBody>
                    <a:bodyPr/>
                    <a:lstStyle/>
                    <a:p>
                      <a:pPr>
                        <a:buNone/>
                      </a:pPr>
                      <a:r>
                        <a:rPr lang="en-IN" sz="1800">
                          <a:effectLst/>
                        </a:rPr>
                        <a:t>1250</a:t>
                      </a:r>
                    </a:p>
                  </a:txBody>
                  <a:tcPr anchor="ctr">
                    <a:lnL>
                      <a:noFill/>
                    </a:lnL>
                    <a:lnR>
                      <a:noFill/>
                    </a:lnR>
                    <a:lnT>
                      <a:noFill/>
                    </a:lnT>
                    <a:lnB>
                      <a:noFill/>
                    </a:lnB>
                    <a:noFill/>
                  </a:tcPr>
                </a:tc>
                <a:tc>
                  <a:txBody>
                    <a:bodyPr/>
                    <a:lstStyle/>
                    <a:p>
                      <a:pPr>
                        <a:buNone/>
                      </a:pPr>
                      <a:endParaRPr lang="en-IN" sz="1800">
                        <a:effectLst/>
                      </a:endParaRPr>
                    </a:p>
                  </a:txBody>
                  <a:tcPr anchor="ctr">
                    <a:lnL>
                      <a:noFill/>
                    </a:lnL>
                    <a:lnR>
                      <a:noFill/>
                    </a:lnR>
                    <a:lnT>
                      <a:noFill/>
                    </a:lnT>
                    <a:lnB>
                      <a:noFill/>
                    </a:lnB>
                    <a:noFill/>
                  </a:tcPr>
                </a:tc>
                <a:tc>
                  <a:txBody>
                    <a:bodyPr/>
                    <a:lstStyle/>
                    <a:p>
                      <a:pPr>
                        <a:buNone/>
                      </a:pPr>
                      <a:r>
                        <a:rPr lang="en-IN" sz="1800">
                          <a:effectLst/>
                        </a:rPr>
                        <a:t>1800</a:t>
                      </a:r>
                    </a:p>
                  </a:txBody>
                  <a:tcPr anchor="ctr">
                    <a:lnL>
                      <a:noFill/>
                    </a:lnL>
                    <a:lnR>
                      <a:noFill/>
                    </a:lnR>
                    <a:lnT>
                      <a:noFill/>
                    </a:lnT>
                    <a:lnB>
                      <a:noFill/>
                    </a:lnB>
                    <a:noFill/>
                  </a:tcPr>
                </a:tc>
                <a:tc>
                  <a:txBody>
                    <a:bodyPr/>
                    <a:lstStyle/>
                    <a:p>
                      <a:pPr>
                        <a:buNone/>
                      </a:pPr>
                      <a:endParaRPr lang="en-IN" sz="1800">
                        <a:effectLst/>
                      </a:endParaRPr>
                    </a:p>
                  </a:txBody>
                  <a:tcPr anchor="ctr">
                    <a:lnL>
                      <a:noFill/>
                    </a:lnL>
                    <a:lnR>
                      <a:noFill/>
                    </a:lnR>
                    <a:lnT>
                      <a:noFill/>
                    </a:lnT>
                    <a:lnB>
                      <a:noFill/>
                    </a:lnB>
                    <a:noFill/>
                  </a:tcPr>
                </a:tc>
                <a:extLst>
                  <a:ext uri="{0D108BD9-81ED-4DB2-BD59-A6C34878D82A}">
                    <a16:rowId xmlns:a16="http://schemas.microsoft.com/office/drawing/2014/main" val="1754399541"/>
                  </a:ext>
                </a:extLst>
              </a:tr>
              <a:tr h="757187">
                <a:tc>
                  <a:txBody>
                    <a:bodyPr/>
                    <a:lstStyle/>
                    <a:p>
                      <a:pPr>
                        <a:buNone/>
                      </a:pPr>
                      <a:r>
                        <a:rPr lang="en-IN" sz="1800">
                          <a:effectLst/>
                        </a:rPr>
                        <a:t>Decision Tree</a:t>
                      </a:r>
                    </a:p>
                  </a:txBody>
                  <a:tcPr anchor="ctr">
                    <a:lnL>
                      <a:noFill/>
                    </a:lnL>
                    <a:lnR>
                      <a:noFill/>
                    </a:lnR>
                    <a:lnT>
                      <a:noFill/>
                    </a:lnT>
                    <a:lnB>
                      <a:noFill/>
                    </a:lnB>
                    <a:noFill/>
                  </a:tcPr>
                </a:tc>
                <a:tc>
                  <a:txBody>
                    <a:bodyPr/>
                    <a:lstStyle/>
                    <a:p>
                      <a:pPr>
                        <a:buNone/>
                      </a:pPr>
                      <a:endParaRPr lang="en-IN" sz="1800">
                        <a:effectLst/>
                      </a:endParaRPr>
                    </a:p>
                  </a:txBody>
                  <a:tcPr anchor="ctr">
                    <a:lnL>
                      <a:noFill/>
                    </a:lnL>
                    <a:lnR>
                      <a:noFill/>
                    </a:lnR>
                    <a:lnT>
                      <a:noFill/>
                    </a:lnT>
                    <a:lnB>
                      <a:noFill/>
                    </a:lnB>
                    <a:noFill/>
                  </a:tcPr>
                </a:tc>
                <a:tc>
                  <a:txBody>
                    <a:bodyPr/>
                    <a:lstStyle/>
                    <a:p>
                      <a:pPr>
                        <a:buNone/>
                      </a:pPr>
                      <a:r>
                        <a:rPr lang="en-IN" sz="1800">
                          <a:effectLst/>
                        </a:rPr>
                        <a:t>0.78</a:t>
                      </a:r>
                    </a:p>
                  </a:txBody>
                  <a:tcPr anchor="ctr">
                    <a:lnL>
                      <a:noFill/>
                    </a:lnL>
                    <a:lnR>
                      <a:noFill/>
                    </a:lnR>
                    <a:lnT>
                      <a:noFill/>
                    </a:lnT>
                    <a:lnB>
                      <a:noFill/>
                    </a:lnB>
                    <a:noFill/>
                  </a:tcPr>
                </a:tc>
                <a:tc>
                  <a:txBody>
                    <a:bodyPr/>
                    <a:lstStyle/>
                    <a:p>
                      <a:pPr>
                        <a:buNone/>
                      </a:pPr>
                      <a:endParaRPr lang="en-IN" sz="1800">
                        <a:effectLst/>
                      </a:endParaRPr>
                    </a:p>
                  </a:txBody>
                  <a:tcPr anchor="ctr">
                    <a:lnL>
                      <a:noFill/>
                    </a:lnL>
                    <a:lnR>
                      <a:noFill/>
                    </a:lnR>
                    <a:lnT>
                      <a:noFill/>
                    </a:lnT>
                    <a:lnB>
                      <a:noFill/>
                    </a:lnB>
                    <a:noFill/>
                  </a:tcPr>
                </a:tc>
                <a:tc>
                  <a:txBody>
                    <a:bodyPr/>
                    <a:lstStyle/>
                    <a:p>
                      <a:pPr>
                        <a:buNone/>
                      </a:pPr>
                      <a:r>
                        <a:rPr lang="en-IN" sz="1800">
                          <a:effectLst/>
                        </a:rPr>
                        <a:t>1100</a:t>
                      </a:r>
                    </a:p>
                  </a:txBody>
                  <a:tcPr anchor="ctr">
                    <a:lnL>
                      <a:noFill/>
                    </a:lnL>
                    <a:lnR>
                      <a:noFill/>
                    </a:lnR>
                    <a:lnT>
                      <a:noFill/>
                    </a:lnT>
                    <a:lnB>
                      <a:noFill/>
                    </a:lnB>
                    <a:noFill/>
                  </a:tcPr>
                </a:tc>
                <a:tc>
                  <a:txBody>
                    <a:bodyPr/>
                    <a:lstStyle/>
                    <a:p>
                      <a:pPr>
                        <a:buNone/>
                      </a:pPr>
                      <a:endParaRPr lang="en-IN" sz="1800">
                        <a:effectLst/>
                      </a:endParaRPr>
                    </a:p>
                  </a:txBody>
                  <a:tcPr anchor="ctr">
                    <a:lnL>
                      <a:noFill/>
                    </a:lnL>
                    <a:lnR>
                      <a:noFill/>
                    </a:lnR>
                    <a:lnT>
                      <a:noFill/>
                    </a:lnT>
                    <a:lnB>
                      <a:noFill/>
                    </a:lnB>
                    <a:noFill/>
                  </a:tcPr>
                </a:tc>
                <a:tc>
                  <a:txBody>
                    <a:bodyPr/>
                    <a:lstStyle/>
                    <a:p>
                      <a:pPr>
                        <a:buNone/>
                      </a:pPr>
                      <a:r>
                        <a:rPr lang="en-IN" sz="1800">
                          <a:effectLst/>
                        </a:rPr>
                        <a:t>1600</a:t>
                      </a:r>
                    </a:p>
                  </a:txBody>
                  <a:tcPr anchor="ctr">
                    <a:lnL>
                      <a:noFill/>
                    </a:lnL>
                    <a:lnR>
                      <a:noFill/>
                    </a:lnR>
                    <a:lnT>
                      <a:noFill/>
                    </a:lnT>
                    <a:lnB>
                      <a:noFill/>
                    </a:lnB>
                    <a:noFill/>
                  </a:tcPr>
                </a:tc>
                <a:tc>
                  <a:txBody>
                    <a:bodyPr/>
                    <a:lstStyle/>
                    <a:p>
                      <a:pPr>
                        <a:buNone/>
                      </a:pPr>
                      <a:endParaRPr lang="en-IN" sz="1800">
                        <a:effectLst/>
                      </a:endParaRPr>
                    </a:p>
                  </a:txBody>
                  <a:tcPr anchor="ctr">
                    <a:lnL>
                      <a:noFill/>
                    </a:lnL>
                    <a:lnR>
                      <a:noFill/>
                    </a:lnR>
                    <a:lnT>
                      <a:noFill/>
                    </a:lnT>
                    <a:lnB>
                      <a:noFill/>
                    </a:lnB>
                    <a:noFill/>
                  </a:tcPr>
                </a:tc>
                <a:extLst>
                  <a:ext uri="{0D108BD9-81ED-4DB2-BD59-A6C34878D82A}">
                    <a16:rowId xmlns:a16="http://schemas.microsoft.com/office/drawing/2014/main" val="3203888026"/>
                  </a:ext>
                </a:extLst>
              </a:tr>
              <a:tr h="757187">
                <a:tc>
                  <a:txBody>
                    <a:bodyPr/>
                    <a:lstStyle/>
                    <a:p>
                      <a:pPr>
                        <a:buNone/>
                      </a:pPr>
                      <a:r>
                        <a:rPr lang="en-IN" sz="1800">
                          <a:effectLst/>
                        </a:rPr>
                        <a:t>Random Forest</a:t>
                      </a:r>
                    </a:p>
                  </a:txBody>
                  <a:tcPr anchor="ctr">
                    <a:lnL>
                      <a:noFill/>
                    </a:lnL>
                    <a:lnR>
                      <a:noFill/>
                    </a:lnR>
                    <a:lnT>
                      <a:noFill/>
                    </a:lnT>
                    <a:lnB>
                      <a:noFill/>
                    </a:lnB>
                    <a:noFill/>
                  </a:tcPr>
                </a:tc>
                <a:tc>
                  <a:txBody>
                    <a:bodyPr/>
                    <a:lstStyle/>
                    <a:p>
                      <a:pPr>
                        <a:buNone/>
                      </a:pPr>
                      <a:endParaRPr lang="en-IN" sz="1800">
                        <a:effectLst/>
                      </a:endParaRPr>
                    </a:p>
                  </a:txBody>
                  <a:tcPr anchor="ctr">
                    <a:lnL>
                      <a:noFill/>
                    </a:lnL>
                    <a:lnR>
                      <a:noFill/>
                    </a:lnR>
                    <a:lnT>
                      <a:noFill/>
                    </a:lnT>
                    <a:lnB>
                      <a:noFill/>
                    </a:lnB>
                    <a:noFill/>
                  </a:tcPr>
                </a:tc>
                <a:tc>
                  <a:txBody>
                    <a:bodyPr/>
                    <a:lstStyle/>
                    <a:p>
                      <a:pPr>
                        <a:buNone/>
                      </a:pPr>
                      <a:r>
                        <a:rPr lang="en-IN" sz="1800">
                          <a:effectLst/>
                        </a:rPr>
                        <a:t>0.87</a:t>
                      </a:r>
                    </a:p>
                  </a:txBody>
                  <a:tcPr anchor="ctr">
                    <a:lnL>
                      <a:noFill/>
                    </a:lnL>
                    <a:lnR>
                      <a:noFill/>
                    </a:lnR>
                    <a:lnT>
                      <a:noFill/>
                    </a:lnT>
                    <a:lnB>
                      <a:noFill/>
                    </a:lnB>
                    <a:noFill/>
                  </a:tcPr>
                </a:tc>
                <a:tc>
                  <a:txBody>
                    <a:bodyPr/>
                    <a:lstStyle/>
                    <a:p>
                      <a:pPr>
                        <a:buNone/>
                      </a:pPr>
                      <a:endParaRPr lang="en-IN" sz="1800">
                        <a:effectLst/>
                      </a:endParaRPr>
                    </a:p>
                  </a:txBody>
                  <a:tcPr anchor="ctr">
                    <a:lnL>
                      <a:noFill/>
                    </a:lnL>
                    <a:lnR>
                      <a:noFill/>
                    </a:lnR>
                    <a:lnT>
                      <a:noFill/>
                    </a:lnT>
                    <a:lnB>
                      <a:noFill/>
                    </a:lnB>
                    <a:noFill/>
                  </a:tcPr>
                </a:tc>
                <a:tc>
                  <a:txBody>
                    <a:bodyPr/>
                    <a:lstStyle/>
                    <a:p>
                      <a:pPr>
                        <a:buNone/>
                      </a:pPr>
                      <a:r>
                        <a:rPr lang="en-IN" sz="1800">
                          <a:effectLst/>
                        </a:rPr>
                        <a:t>800</a:t>
                      </a:r>
                    </a:p>
                  </a:txBody>
                  <a:tcPr anchor="ctr">
                    <a:lnL>
                      <a:noFill/>
                    </a:lnL>
                    <a:lnR>
                      <a:noFill/>
                    </a:lnR>
                    <a:lnT>
                      <a:noFill/>
                    </a:lnT>
                    <a:lnB>
                      <a:noFill/>
                    </a:lnB>
                    <a:noFill/>
                  </a:tcPr>
                </a:tc>
                <a:tc>
                  <a:txBody>
                    <a:bodyPr/>
                    <a:lstStyle/>
                    <a:p>
                      <a:pPr>
                        <a:buNone/>
                      </a:pPr>
                      <a:endParaRPr lang="en-IN" sz="1800">
                        <a:effectLst/>
                      </a:endParaRPr>
                    </a:p>
                  </a:txBody>
                  <a:tcPr anchor="ctr">
                    <a:lnL>
                      <a:noFill/>
                    </a:lnL>
                    <a:lnR>
                      <a:noFill/>
                    </a:lnR>
                    <a:lnT>
                      <a:noFill/>
                    </a:lnT>
                    <a:lnB>
                      <a:noFill/>
                    </a:lnB>
                    <a:noFill/>
                  </a:tcPr>
                </a:tc>
                <a:tc>
                  <a:txBody>
                    <a:bodyPr/>
                    <a:lstStyle/>
                    <a:p>
                      <a:pPr>
                        <a:buNone/>
                      </a:pPr>
                      <a:r>
                        <a:rPr lang="en-IN" sz="1800">
                          <a:effectLst/>
                        </a:rPr>
                        <a:t>1200</a:t>
                      </a:r>
                    </a:p>
                  </a:txBody>
                  <a:tcPr anchor="ctr">
                    <a:lnL>
                      <a:noFill/>
                    </a:lnL>
                    <a:lnR>
                      <a:noFill/>
                    </a:lnR>
                    <a:lnT>
                      <a:noFill/>
                    </a:lnT>
                    <a:lnB>
                      <a:noFill/>
                    </a:lnB>
                    <a:noFill/>
                  </a:tcPr>
                </a:tc>
                <a:tc>
                  <a:txBody>
                    <a:bodyPr/>
                    <a:lstStyle/>
                    <a:p>
                      <a:pPr>
                        <a:buNone/>
                      </a:pPr>
                      <a:endParaRPr lang="en-IN" sz="1800">
                        <a:effectLst/>
                      </a:endParaRPr>
                    </a:p>
                  </a:txBody>
                  <a:tcPr anchor="ctr">
                    <a:lnL>
                      <a:noFill/>
                    </a:lnL>
                    <a:lnR>
                      <a:noFill/>
                    </a:lnR>
                    <a:lnT>
                      <a:noFill/>
                    </a:lnT>
                    <a:lnB>
                      <a:noFill/>
                    </a:lnB>
                    <a:noFill/>
                  </a:tcPr>
                </a:tc>
                <a:extLst>
                  <a:ext uri="{0D108BD9-81ED-4DB2-BD59-A6C34878D82A}">
                    <a16:rowId xmlns:a16="http://schemas.microsoft.com/office/drawing/2014/main" val="2236520636"/>
                  </a:ext>
                </a:extLst>
              </a:tr>
              <a:tr h="757187">
                <a:tc>
                  <a:txBody>
                    <a:bodyPr/>
                    <a:lstStyle/>
                    <a:p>
                      <a:pPr>
                        <a:buNone/>
                      </a:pPr>
                      <a:r>
                        <a:rPr lang="en-IN" sz="1800">
                          <a:effectLst/>
                        </a:rPr>
                        <a:t>XGBoost</a:t>
                      </a:r>
                    </a:p>
                  </a:txBody>
                  <a:tcPr anchor="ctr">
                    <a:lnL>
                      <a:noFill/>
                    </a:lnL>
                    <a:lnR>
                      <a:noFill/>
                    </a:lnR>
                    <a:lnT>
                      <a:noFill/>
                    </a:lnT>
                    <a:lnB>
                      <a:noFill/>
                    </a:lnB>
                    <a:noFill/>
                  </a:tcPr>
                </a:tc>
                <a:tc>
                  <a:txBody>
                    <a:bodyPr/>
                    <a:lstStyle/>
                    <a:p>
                      <a:pPr>
                        <a:buNone/>
                      </a:pPr>
                      <a:endParaRPr lang="en-IN" sz="1800">
                        <a:effectLst/>
                      </a:endParaRPr>
                    </a:p>
                  </a:txBody>
                  <a:tcPr anchor="ctr">
                    <a:lnL>
                      <a:noFill/>
                    </a:lnL>
                    <a:lnR>
                      <a:noFill/>
                    </a:lnR>
                    <a:lnT>
                      <a:noFill/>
                    </a:lnT>
                    <a:lnB>
                      <a:noFill/>
                    </a:lnB>
                    <a:noFill/>
                  </a:tcPr>
                </a:tc>
                <a:tc>
                  <a:txBody>
                    <a:bodyPr/>
                    <a:lstStyle/>
                    <a:p>
                      <a:pPr>
                        <a:buNone/>
                      </a:pPr>
                      <a:r>
                        <a:rPr lang="en-IN" sz="1800">
                          <a:effectLst/>
                        </a:rPr>
                        <a:t>0.92</a:t>
                      </a:r>
                    </a:p>
                  </a:txBody>
                  <a:tcPr anchor="ctr">
                    <a:lnL>
                      <a:noFill/>
                    </a:lnL>
                    <a:lnR>
                      <a:noFill/>
                    </a:lnR>
                    <a:lnT>
                      <a:noFill/>
                    </a:lnT>
                    <a:lnB>
                      <a:noFill/>
                    </a:lnB>
                    <a:noFill/>
                  </a:tcPr>
                </a:tc>
                <a:tc>
                  <a:txBody>
                    <a:bodyPr/>
                    <a:lstStyle/>
                    <a:p>
                      <a:pPr>
                        <a:buNone/>
                      </a:pPr>
                      <a:endParaRPr lang="en-IN" sz="1800">
                        <a:effectLst/>
                      </a:endParaRPr>
                    </a:p>
                  </a:txBody>
                  <a:tcPr anchor="ctr">
                    <a:lnL>
                      <a:noFill/>
                    </a:lnL>
                    <a:lnR>
                      <a:noFill/>
                    </a:lnR>
                    <a:lnT>
                      <a:noFill/>
                    </a:lnT>
                    <a:lnB>
                      <a:noFill/>
                    </a:lnB>
                    <a:noFill/>
                  </a:tcPr>
                </a:tc>
                <a:tc>
                  <a:txBody>
                    <a:bodyPr/>
                    <a:lstStyle/>
                    <a:p>
                      <a:pPr>
                        <a:buNone/>
                      </a:pPr>
                      <a:r>
                        <a:rPr lang="en-IN" sz="1800">
                          <a:effectLst/>
                        </a:rPr>
                        <a:t>700</a:t>
                      </a:r>
                    </a:p>
                  </a:txBody>
                  <a:tcPr anchor="ctr">
                    <a:lnL>
                      <a:noFill/>
                    </a:lnL>
                    <a:lnR>
                      <a:noFill/>
                    </a:lnR>
                    <a:lnT>
                      <a:noFill/>
                    </a:lnT>
                    <a:lnB>
                      <a:noFill/>
                    </a:lnB>
                    <a:noFill/>
                  </a:tcPr>
                </a:tc>
                <a:tc>
                  <a:txBody>
                    <a:bodyPr/>
                    <a:lstStyle/>
                    <a:p>
                      <a:pPr>
                        <a:buNone/>
                      </a:pPr>
                      <a:endParaRPr lang="en-IN" sz="1800">
                        <a:effectLst/>
                      </a:endParaRPr>
                    </a:p>
                  </a:txBody>
                  <a:tcPr anchor="ctr">
                    <a:lnL>
                      <a:noFill/>
                    </a:lnL>
                    <a:lnR>
                      <a:noFill/>
                    </a:lnR>
                    <a:lnT>
                      <a:noFill/>
                    </a:lnT>
                    <a:lnB>
                      <a:noFill/>
                    </a:lnB>
                    <a:noFill/>
                  </a:tcPr>
                </a:tc>
                <a:tc>
                  <a:txBody>
                    <a:bodyPr/>
                    <a:lstStyle/>
                    <a:p>
                      <a:pPr>
                        <a:buNone/>
                      </a:pPr>
                      <a:r>
                        <a:rPr lang="en-IN" sz="1800" dirty="0">
                          <a:effectLst/>
                        </a:rPr>
                        <a:t>1000</a:t>
                      </a:r>
                    </a:p>
                  </a:txBody>
                  <a:tcPr anchor="ctr">
                    <a:lnL>
                      <a:noFill/>
                    </a:lnL>
                    <a:lnR>
                      <a:noFill/>
                    </a:lnR>
                    <a:lnT>
                      <a:noFill/>
                    </a:lnT>
                    <a:lnB>
                      <a:noFill/>
                    </a:lnB>
                    <a:noFill/>
                  </a:tcPr>
                </a:tc>
                <a:tc>
                  <a:txBody>
                    <a:bodyPr/>
                    <a:lstStyle/>
                    <a:p>
                      <a:pPr>
                        <a:buNone/>
                      </a:pPr>
                      <a:endParaRPr lang="en-IN" sz="1800" dirty="0">
                        <a:effectLst/>
                      </a:endParaRPr>
                    </a:p>
                  </a:txBody>
                  <a:tcPr anchor="ctr">
                    <a:lnL>
                      <a:noFill/>
                    </a:lnL>
                    <a:lnR>
                      <a:noFill/>
                    </a:lnR>
                    <a:lnT>
                      <a:noFill/>
                    </a:lnT>
                    <a:lnB>
                      <a:noFill/>
                    </a:lnB>
                    <a:noFill/>
                  </a:tcPr>
                </a:tc>
                <a:extLst>
                  <a:ext uri="{0D108BD9-81ED-4DB2-BD59-A6C34878D82A}">
                    <a16:rowId xmlns:a16="http://schemas.microsoft.com/office/drawing/2014/main" val="3002700046"/>
                  </a:ext>
                </a:extLst>
              </a:tr>
            </a:tbl>
          </a:graphicData>
        </a:graphic>
      </p:graphicFrame>
    </p:spTree>
    <p:extLst>
      <p:ext uri="{BB962C8B-B14F-4D97-AF65-F5344CB8AC3E}">
        <p14:creationId xmlns:p14="http://schemas.microsoft.com/office/powerpoint/2010/main" val="2241793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A57017A-B2CF-046B-E12C-6E78C27248C8}"/>
              </a:ext>
            </a:extLst>
          </p:cNvPr>
          <p:cNvSpPr>
            <a:spLocks noGrp="1" noChangeArrowheads="1"/>
          </p:cNvSpPr>
          <p:nvPr>
            <p:ph idx="4294967295"/>
          </p:nvPr>
        </p:nvSpPr>
        <p:spPr bwMode="auto">
          <a:xfrm>
            <a:off x="1103586" y="1700987"/>
            <a:ext cx="9449074"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performed the best with 96% train and 90% test accuracy,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showing excellent generalization</a:t>
            </a:r>
            <a:r>
              <a:rPr lang="en-US" altLang="en-US" sz="2400" dirty="0">
                <a:solidFill>
                  <a:schemeClr val="tx1"/>
                </a:solidFill>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flight price predictions.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also showed strong performance with minimal overfitting.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Linear Regression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had balanced train-test scores, making it reliable and stable.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However, Decision Tree showed signs of overfitting with 98% training but</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b="1" dirty="0">
                <a:solidFill>
                  <a:schemeClr val="tx1"/>
                </a:solidFill>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76% testing accuracy.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4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24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74692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C3917-5931-77C7-5B46-B0871B6FFBE8}"/>
              </a:ext>
            </a:extLst>
          </p:cNvPr>
          <p:cNvSpPr>
            <a:spLocks noGrp="1"/>
          </p:cNvSpPr>
          <p:nvPr>
            <p:ph type="title"/>
          </p:nvPr>
        </p:nvSpPr>
        <p:spPr>
          <a:xfrm>
            <a:off x="581192" y="754708"/>
            <a:ext cx="11029616" cy="1188720"/>
          </a:xfrm>
        </p:spPr>
        <p:txBody>
          <a:bodyPr/>
          <a:lstStyle/>
          <a:p>
            <a:pPr algn="ctr"/>
            <a:r>
              <a:rPr lang="en-IN" b="1" dirty="0">
                <a:solidFill>
                  <a:srgbClr val="7030A0"/>
                </a:solidFill>
                <a:latin typeface="Times New Roman" panose="02020603050405020304" pitchFamily="18" charset="0"/>
                <a:cs typeface="Times New Roman" panose="02020603050405020304" pitchFamily="18" charset="0"/>
              </a:rPr>
              <a:t>Overfitting and underfitting analysis</a:t>
            </a:r>
          </a:p>
        </p:txBody>
      </p:sp>
      <p:graphicFrame>
        <p:nvGraphicFramePr>
          <p:cNvPr id="4" name="Content Placeholder 3">
            <a:extLst>
              <a:ext uri="{FF2B5EF4-FFF2-40B4-BE49-F238E27FC236}">
                <a16:creationId xmlns:a16="http://schemas.microsoft.com/office/drawing/2014/main" id="{756B39A7-8D18-F570-7947-5FA973C1270D}"/>
              </a:ext>
            </a:extLst>
          </p:cNvPr>
          <p:cNvGraphicFramePr>
            <a:graphicFrameLocks noGrp="1"/>
          </p:cNvGraphicFramePr>
          <p:nvPr>
            <p:ph idx="1"/>
            <p:extLst>
              <p:ext uri="{D42A27DB-BD31-4B8C-83A1-F6EECF244321}">
                <p14:modId xmlns:p14="http://schemas.microsoft.com/office/powerpoint/2010/main" val="2333498032"/>
              </p:ext>
            </p:extLst>
          </p:nvPr>
        </p:nvGraphicFramePr>
        <p:xfrm>
          <a:off x="581026" y="2390274"/>
          <a:ext cx="11029948" cy="3449050"/>
        </p:xfrm>
        <a:graphic>
          <a:graphicData uri="http://schemas.openxmlformats.org/drawingml/2006/table">
            <a:tbl>
              <a:tblPr/>
              <a:tblGrid>
                <a:gridCol w="2757487">
                  <a:extLst>
                    <a:ext uri="{9D8B030D-6E8A-4147-A177-3AD203B41FA5}">
                      <a16:colId xmlns:a16="http://schemas.microsoft.com/office/drawing/2014/main" val="1811328677"/>
                    </a:ext>
                  </a:extLst>
                </a:gridCol>
                <a:gridCol w="2757487">
                  <a:extLst>
                    <a:ext uri="{9D8B030D-6E8A-4147-A177-3AD203B41FA5}">
                      <a16:colId xmlns:a16="http://schemas.microsoft.com/office/drawing/2014/main" val="1216293447"/>
                    </a:ext>
                  </a:extLst>
                </a:gridCol>
                <a:gridCol w="2757487">
                  <a:extLst>
                    <a:ext uri="{9D8B030D-6E8A-4147-A177-3AD203B41FA5}">
                      <a16:colId xmlns:a16="http://schemas.microsoft.com/office/drawing/2014/main" val="2785392141"/>
                    </a:ext>
                  </a:extLst>
                </a:gridCol>
                <a:gridCol w="2757487">
                  <a:extLst>
                    <a:ext uri="{9D8B030D-6E8A-4147-A177-3AD203B41FA5}">
                      <a16:colId xmlns:a16="http://schemas.microsoft.com/office/drawing/2014/main" val="3691776151"/>
                    </a:ext>
                  </a:extLst>
                </a:gridCol>
              </a:tblGrid>
              <a:tr h="689810">
                <a:tc>
                  <a:txBody>
                    <a:bodyPr/>
                    <a:lstStyle/>
                    <a:p>
                      <a:pPr>
                        <a:buNone/>
                      </a:pPr>
                      <a:r>
                        <a:rPr lang="en-IN" sz="1800"/>
                        <a:t>Model</a:t>
                      </a:r>
                    </a:p>
                  </a:txBody>
                  <a:tcPr anchor="ctr">
                    <a:lnL>
                      <a:noFill/>
                    </a:lnL>
                    <a:lnR>
                      <a:noFill/>
                    </a:lnR>
                    <a:lnT>
                      <a:noFill/>
                    </a:lnT>
                    <a:lnB>
                      <a:noFill/>
                    </a:lnB>
                    <a:noFill/>
                  </a:tcPr>
                </a:tc>
                <a:tc>
                  <a:txBody>
                    <a:bodyPr/>
                    <a:lstStyle/>
                    <a:p>
                      <a:pPr>
                        <a:buNone/>
                      </a:pPr>
                      <a:r>
                        <a:rPr lang="en-IN" sz="1800"/>
                        <a:t>Train Accuracy</a:t>
                      </a:r>
                    </a:p>
                  </a:txBody>
                  <a:tcPr anchor="ctr">
                    <a:lnL>
                      <a:noFill/>
                    </a:lnL>
                    <a:lnR>
                      <a:noFill/>
                    </a:lnR>
                    <a:lnT>
                      <a:noFill/>
                    </a:lnT>
                    <a:lnB>
                      <a:noFill/>
                    </a:lnB>
                    <a:noFill/>
                  </a:tcPr>
                </a:tc>
                <a:tc>
                  <a:txBody>
                    <a:bodyPr/>
                    <a:lstStyle/>
                    <a:p>
                      <a:pPr>
                        <a:buNone/>
                      </a:pPr>
                      <a:r>
                        <a:rPr lang="en-IN" sz="1800"/>
                        <a:t>Test Accuracy</a:t>
                      </a:r>
                    </a:p>
                  </a:txBody>
                  <a:tcPr anchor="ctr">
                    <a:lnL>
                      <a:noFill/>
                    </a:lnL>
                    <a:lnR>
                      <a:noFill/>
                    </a:lnR>
                    <a:lnT>
                      <a:noFill/>
                    </a:lnT>
                    <a:lnB>
                      <a:noFill/>
                    </a:lnB>
                    <a:noFill/>
                  </a:tcPr>
                </a:tc>
                <a:tc>
                  <a:txBody>
                    <a:bodyPr/>
                    <a:lstStyle/>
                    <a:p>
                      <a:pPr>
                        <a:buNone/>
                      </a:pPr>
                      <a:r>
                        <a:rPr lang="en-IN" sz="1800"/>
                        <a:t>Evaluation</a:t>
                      </a:r>
                    </a:p>
                  </a:txBody>
                  <a:tcPr anchor="ctr">
                    <a:lnL>
                      <a:noFill/>
                    </a:lnL>
                    <a:lnR>
                      <a:noFill/>
                    </a:lnR>
                    <a:lnT>
                      <a:noFill/>
                    </a:lnT>
                    <a:lnB>
                      <a:noFill/>
                    </a:lnB>
                    <a:noFill/>
                  </a:tcPr>
                </a:tc>
                <a:extLst>
                  <a:ext uri="{0D108BD9-81ED-4DB2-BD59-A6C34878D82A}">
                    <a16:rowId xmlns:a16="http://schemas.microsoft.com/office/drawing/2014/main" val="2994132197"/>
                  </a:ext>
                </a:extLst>
              </a:tr>
              <a:tr h="689810">
                <a:tc>
                  <a:txBody>
                    <a:bodyPr/>
                    <a:lstStyle/>
                    <a:p>
                      <a:pPr>
                        <a:buNone/>
                      </a:pPr>
                      <a:r>
                        <a:rPr lang="en-IN" sz="1800"/>
                        <a:t>Linear Regression</a:t>
                      </a:r>
                    </a:p>
                  </a:txBody>
                  <a:tcPr anchor="ctr">
                    <a:lnL>
                      <a:noFill/>
                    </a:lnL>
                    <a:lnR>
                      <a:noFill/>
                    </a:lnR>
                    <a:lnT>
                      <a:noFill/>
                    </a:lnT>
                    <a:lnB>
                      <a:noFill/>
                    </a:lnB>
                    <a:noFill/>
                  </a:tcPr>
                </a:tc>
                <a:tc>
                  <a:txBody>
                    <a:bodyPr/>
                    <a:lstStyle/>
                    <a:p>
                      <a:pPr>
                        <a:buNone/>
                      </a:pPr>
                      <a:r>
                        <a:rPr lang="en-IN" sz="1800"/>
                        <a:t>0.75</a:t>
                      </a:r>
                    </a:p>
                  </a:txBody>
                  <a:tcPr anchor="ctr">
                    <a:lnL>
                      <a:noFill/>
                    </a:lnL>
                    <a:lnR>
                      <a:noFill/>
                    </a:lnR>
                    <a:lnT>
                      <a:noFill/>
                    </a:lnT>
                    <a:lnB>
                      <a:noFill/>
                    </a:lnB>
                    <a:noFill/>
                  </a:tcPr>
                </a:tc>
                <a:tc>
                  <a:txBody>
                    <a:bodyPr/>
                    <a:lstStyle/>
                    <a:p>
                      <a:pPr>
                        <a:buNone/>
                      </a:pPr>
                      <a:r>
                        <a:rPr lang="en-IN" sz="1800"/>
                        <a:t>0.73</a:t>
                      </a:r>
                    </a:p>
                  </a:txBody>
                  <a:tcPr anchor="ctr">
                    <a:lnL>
                      <a:noFill/>
                    </a:lnL>
                    <a:lnR>
                      <a:noFill/>
                    </a:lnR>
                    <a:lnT>
                      <a:noFill/>
                    </a:lnT>
                    <a:lnB>
                      <a:noFill/>
                    </a:lnB>
                    <a:noFill/>
                  </a:tcPr>
                </a:tc>
                <a:tc>
                  <a:txBody>
                    <a:bodyPr/>
                    <a:lstStyle/>
                    <a:p>
                      <a:pPr>
                        <a:buNone/>
                      </a:pPr>
                      <a:r>
                        <a:rPr lang="en-IN" sz="1800"/>
                        <a:t>Well-Fitted</a:t>
                      </a:r>
                    </a:p>
                  </a:txBody>
                  <a:tcPr anchor="ctr">
                    <a:lnL>
                      <a:noFill/>
                    </a:lnL>
                    <a:lnR>
                      <a:noFill/>
                    </a:lnR>
                    <a:lnT>
                      <a:noFill/>
                    </a:lnT>
                    <a:lnB>
                      <a:noFill/>
                    </a:lnB>
                    <a:noFill/>
                  </a:tcPr>
                </a:tc>
                <a:extLst>
                  <a:ext uri="{0D108BD9-81ED-4DB2-BD59-A6C34878D82A}">
                    <a16:rowId xmlns:a16="http://schemas.microsoft.com/office/drawing/2014/main" val="2633001145"/>
                  </a:ext>
                </a:extLst>
              </a:tr>
              <a:tr h="689810">
                <a:tc>
                  <a:txBody>
                    <a:bodyPr/>
                    <a:lstStyle/>
                    <a:p>
                      <a:pPr>
                        <a:buNone/>
                      </a:pPr>
                      <a:r>
                        <a:rPr lang="en-IN" sz="1800"/>
                        <a:t>Decision Tree</a:t>
                      </a:r>
                    </a:p>
                  </a:txBody>
                  <a:tcPr anchor="ctr">
                    <a:lnL>
                      <a:noFill/>
                    </a:lnL>
                    <a:lnR>
                      <a:noFill/>
                    </a:lnR>
                    <a:lnT>
                      <a:noFill/>
                    </a:lnT>
                    <a:lnB>
                      <a:noFill/>
                    </a:lnB>
                    <a:noFill/>
                  </a:tcPr>
                </a:tc>
                <a:tc>
                  <a:txBody>
                    <a:bodyPr/>
                    <a:lstStyle/>
                    <a:p>
                      <a:pPr>
                        <a:buNone/>
                      </a:pPr>
                      <a:r>
                        <a:rPr lang="en-IN" sz="1800"/>
                        <a:t>0.98</a:t>
                      </a:r>
                    </a:p>
                  </a:txBody>
                  <a:tcPr anchor="ctr">
                    <a:lnL>
                      <a:noFill/>
                    </a:lnL>
                    <a:lnR>
                      <a:noFill/>
                    </a:lnR>
                    <a:lnT>
                      <a:noFill/>
                    </a:lnT>
                    <a:lnB>
                      <a:noFill/>
                    </a:lnB>
                    <a:noFill/>
                  </a:tcPr>
                </a:tc>
                <a:tc>
                  <a:txBody>
                    <a:bodyPr/>
                    <a:lstStyle/>
                    <a:p>
                      <a:pPr>
                        <a:buNone/>
                      </a:pPr>
                      <a:r>
                        <a:rPr lang="en-IN" sz="1800"/>
                        <a:t>0.76</a:t>
                      </a:r>
                    </a:p>
                  </a:txBody>
                  <a:tcPr anchor="ctr">
                    <a:lnL>
                      <a:noFill/>
                    </a:lnL>
                    <a:lnR>
                      <a:noFill/>
                    </a:lnR>
                    <a:lnT>
                      <a:noFill/>
                    </a:lnT>
                    <a:lnB>
                      <a:noFill/>
                    </a:lnB>
                    <a:noFill/>
                  </a:tcPr>
                </a:tc>
                <a:tc>
                  <a:txBody>
                    <a:bodyPr/>
                    <a:lstStyle/>
                    <a:p>
                      <a:pPr>
                        <a:buNone/>
                      </a:pPr>
                      <a:r>
                        <a:rPr lang="en-IN" sz="1800"/>
                        <a:t>Overfitted</a:t>
                      </a:r>
                    </a:p>
                  </a:txBody>
                  <a:tcPr anchor="ctr">
                    <a:lnL>
                      <a:noFill/>
                    </a:lnL>
                    <a:lnR>
                      <a:noFill/>
                    </a:lnR>
                    <a:lnT>
                      <a:noFill/>
                    </a:lnT>
                    <a:lnB>
                      <a:noFill/>
                    </a:lnB>
                    <a:noFill/>
                  </a:tcPr>
                </a:tc>
                <a:extLst>
                  <a:ext uri="{0D108BD9-81ED-4DB2-BD59-A6C34878D82A}">
                    <a16:rowId xmlns:a16="http://schemas.microsoft.com/office/drawing/2014/main" val="573074158"/>
                  </a:ext>
                </a:extLst>
              </a:tr>
              <a:tr h="689810">
                <a:tc>
                  <a:txBody>
                    <a:bodyPr/>
                    <a:lstStyle/>
                    <a:p>
                      <a:pPr>
                        <a:buNone/>
                      </a:pPr>
                      <a:r>
                        <a:rPr lang="en-IN" sz="1800"/>
                        <a:t>Random Forest</a:t>
                      </a:r>
                    </a:p>
                  </a:txBody>
                  <a:tcPr anchor="ctr">
                    <a:lnL>
                      <a:noFill/>
                    </a:lnL>
                    <a:lnR>
                      <a:noFill/>
                    </a:lnR>
                    <a:lnT>
                      <a:noFill/>
                    </a:lnT>
                    <a:lnB>
                      <a:noFill/>
                    </a:lnB>
                    <a:noFill/>
                  </a:tcPr>
                </a:tc>
                <a:tc>
                  <a:txBody>
                    <a:bodyPr/>
                    <a:lstStyle/>
                    <a:p>
                      <a:pPr>
                        <a:buNone/>
                      </a:pPr>
                      <a:r>
                        <a:rPr lang="en-IN" sz="1800"/>
                        <a:t>0.97</a:t>
                      </a:r>
                    </a:p>
                  </a:txBody>
                  <a:tcPr anchor="ctr">
                    <a:lnL>
                      <a:noFill/>
                    </a:lnL>
                    <a:lnR>
                      <a:noFill/>
                    </a:lnR>
                    <a:lnT>
                      <a:noFill/>
                    </a:lnT>
                    <a:lnB>
                      <a:noFill/>
                    </a:lnB>
                    <a:noFill/>
                  </a:tcPr>
                </a:tc>
                <a:tc>
                  <a:txBody>
                    <a:bodyPr/>
                    <a:lstStyle/>
                    <a:p>
                      <a:pPr>
                        <a:buNone/>
                      </a:pPr>
                      <a:r>
                        <a:rPr lang="en-IN" sz="1800"/>
                        <a:t>0.85</a:t>
                      </a:r>
                    </a:p>
                  </a:txBody>
                  <a:tcPr anchor="ctr">
                    <a:lnL>
                      <a:noFill/>
                    </a:lnL>
                    <a:lnR>
                      <a:noFill/>
                    </a:lnR>
                    <a:lnT>
                      <a:noFill/>
                    </a:lnT>
                    <a:lnB>
                      <a:noFill/>
                    </a:lnB>
                    <a:noFill/>
                  </a:tcPr>
                </a:tc>
                <a:tc>
                  <a:txBody>
                    <a:bodyPr/>
                    <a:lstStyle/>
                    <a:p>
                      <a:pPr>
                        <a:buNone/>
                      </a:pPr>
                      <a:r>
                        <a:rPr lang="en-IN" sz="1800"/>
                        <a:t>Well-Fitted</a:t>
                      </a:r>
                    </a:p>
                  </a:txBody>
                  <a:tcPr anchor="ctr">
                    <a:lnL>
                      <a:noFill/>
                    </a:lnL>
                    <a:lnR>
                      <a:noFill/>
                    </a:lnR>
                    <a:lnT>
                      <a:noFill/>
                    </a:lnT>
                    <a:lnB>
                      <a:noFill/>
                    </a:lnB>
                    <a:noFill/>
                  </a:tcPr>
                </a:tc>
                <a:extLst>
                  <a:ext uri="{0D108BD9-81ED-4DB2-BD59-A6C34878D82A}">
                    <a16:rowId xmlns:a16="http://schemas.microsoft.com/office/drawing/2014/main" val="2136231203"/>
                  </a:ext>
                </a:extLst>
              </a:tr>
              <a:tr h="689810">
                <a:tc>
                  <a:txBody>
                    <a:bodyPr/>
                    <a:lstStyle/>
                    <a:p>
                      <a:pPr>
                        <a:buNone/>
                      </a:pPr>
                      <a:r>
                        <a:rPr lang="en-IN" sz="1800"/>
                        <a:t>XGBoost</a:t>
                      </a:r>
                    </a:p>
                  </a:txBody>
                  <a:tcPr anchor="ctr">
                    <a:lnL>
                      <a:noFill/>
                    </a:lnL>
                    <a:lnR>
                      <a:noFill/>
                    </a:lnR>
                    <a:lnT>
                      <a:noFill/>
                    </a:lnT>
                    <a:lnB>
                      <a:noFill/>
                    </a:lnB>
                    <a:noFill/>
                  </a:tcPr>
                </a:tc>
                <a:tc>
                  <a:txBody>
                    <a:bodyPr/>
                    <a:lstStyle/>
                    <a:p>
                      <a:pPr>
                        <a:buNone/>
                      </a:pPr>
                      <a:r>
                        <a:rPr lang="en-IN" sz="1800"/>
                        <a:t>0.96</a:t>
                      </a:r>
                    </a:p>
                  </a:txBody>
                  <a:tcPr anchor="ctr">
                    <a:lnL>
                      <a:noFill/>
                    </a:lnL>
                    <a:lnR>
                      <a:noFill/>
                    </a:lnR>
                    <a:lnT>
                      <a:noFill/>
                    </a:lnT>
                    <a:lnB>
                      <a:noFill/>
                    </a:lnB>
                    <a:noFill/>
                  </a:tcPr>
                </a:tc>
                <a:tc>
                  <a:txBody>
                    <a:bodyPr/>
                    <a:lstStyle/>
                    <a:p>
                      <a:pPr>
                        <a:buNone/>
                      </a:pPr>
                      <a:r>
                        <a:rPr lang="en-IN" sz="1800"/>
                        <a:t>0.90</a:t>
                      </a:r>
                    </a:p>
                  </a:txBody>
                  <a:tcPr anchor="ctr">
                    <a:lnL>
                      <a:noFill/>
                    </a:lnL>
                    <a:lnR>
                      <a:noFill/>
                    </a:lnR>
                    <a:lnT>
                      <a:noFill/>
                    </a:lnT>
                    <a:lnB>
                      <a:noFill/>
                    </a:lnB>
                    <a:noFill/>
                  </a:tcPr>
                </a:tc>
                <a:tc>
                  <a:txBody>
                    <a:bodyPr/>
                    <a:lstStyle/>
                    <a:p>
                      <a:pPr>
                        <a:buNone/>
                      </a:pPr>
                      <a:r>
                        <a:rPr lang="en-IN" sz="1800" dirty="0"/>
                        <a:t>Well-Fitted</a:t>
                      </a:r>
                    </a:p>
                  </a:txBody>
                  <a:tcPr anchor="ctr">
                    <a:lnL>
                      <a:noFill/>
                    </a:lnL>
                    <a:lnR>
                      <a:noFill/>
                    </a:lnR>
                    <a:lnT>
                      <a:noFill/>
                    </a:lnT>
                    <a:lnB>
                      <a:noFill/>
                    </a:lnB>
                    <a:noFill/>
                  </a:tcPr>
                </a:tc>
                <a:extLst>
                  <a:ext uri="{0D108BD9-81ED-4DB2-BD59-A6C34878D82A}">
                    <a16:rowId xmlns:a16="http://schemas.microsoft.com/office/drawing/2014/main" val="2639794241"/>
                  </a:ext>
                </a:extLst>
              </a:tr>
            </a:tbl>
          </a:graphicData>
        </a:graphic>
      </p:graphicFrame>
    </p:spTree>
    <p:extLst>
      <p:ext uri="{BB962C8B-B14F-4D97-AF65-F5344CB8AC3E}">
        <p14:creationId xmlns:p14="http://schemas.microsoft.com/office/powerpoint/2010/main" val="4924340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118E764C-129D-E0E7-CFAD-9046A43EF808}"/>
              </a:ext>
            </a:extLst>
          </p:cNvPr>
          <p:cNvSpPr>
            <a:spLocks noGrp="1" noChangeArrowheads="1"/>
          </p:cNvSpPr>
          <p:nvPr>
            <p:ph idx="4294967295"/>
          </p:nvPr>
        </p:nvSpPr>
        <p:spPr bwMode="auto">
          <a:xfrm>
            <a:off x="959397" y="1659285"/>
            <a:ext cx="972962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achieved the highest R² score (0.92) and lowest errors, making it the best-performing model for flight price prediction.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 and Decision Tree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also performed well, showing good balance between accuracy and generalization.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Linear Regression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gave decent results but was less accurate compared to other models.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results help identify which models generalize well and are most suitable for flight ticket price prediction </a:t>
            </a:r>
          </a:p>
        </p:txBody>
      </p:sp>
    </p:spTree>
    <p:extLst>
      <p:ext uri="{BB962C8B-B14F-4D97-AF65-F5344CB8AC3E}">
        <p14:creationId xmlns:p14="http://schemas.microsoft.com/office/powerpoint/2010/main" val="37050375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034C9-71D0-E645-BB24-59664EDAD87C}"/>
              </a:ext>
            </a:extLst>
          </p:cNvPr>
          <p:cNvSpPr>
            <a:spLocks noGrp="1"/>
          </p:cNvSpPr>
          <p:nvPr>
            <p:ph type="title"/>
          </p:nvPr>
        </p:nvSpPr>
        <p:spPr>
          <a:xfrm>
            <a:off x="581192" y="702155"/>
            <a:ext cx="11029616" cy="853375"/>
          </a:xfrm>
        </p:spPr>
        <p:txBody>
          <a:bodyPr>
            <a:normAutofit fontScale="90000"/>
          </a:bodyPr>
          <a:lstStyle/>
          <a:p>
            <a:pPr algn="ctr"/>
            <a:r>
              <a:rPr lang="en-US" b="1" dirty="0">
                <a:solidFill>
                  <a:srgbClr val="7030A0"/>
                </a:solidFill>
              </a:rPr>
              <a:t>DEPLOYMENT FOR BEST MODEL</a:t>
            </a:r>
            <a:br>
              <a:rPr lang="en-US" b="1" dirty="0"/>
            </a:br>
            <a:endParaRPr lang="en-IN" dirty="0"/>
          </a:p>
        </p:txBody>
      </p:sp>
      <p:sp>
        <p:nvSpPr>
          <p:cNvPr id="3" name="Content Placeholder 2">
            <a:extLst>
              <a:ext uri="{FF2B5EF4-FFF2-40B4-BE49-F238E27FC236}">
                <a16:creationId xmlns:a16="http://schemas.microsoft.com/office/drawing/2014/main" id="{419FB61F-B80E-1123-ABA7-F430D493C28E}"/>
              </a:ext>
            </a:extLst>
          </p:cNvPr>
          <p:cNvSpPr>
            <a:spLocks noGrp="1"/>
          </p:cNvSpPr>
          <p:nvPr>
            <p:ph idx="1"/>
          </p:nvPr>
        </p:nvSpPr>
        <p:spPr>
          <a:xfrm>
            <a:off x="581193" y="2319843"/>
            <a:ext cx="11029615" cy="3634486"/>
          </a:xfrm>
        </p:spPr>
        <p:txBody>
          <a:bodyPr>
            <a:normAutofit fontScale="25000" lnSpcReduction="20000"/>
          </a:bodyPr>
          <a:lstStyle/>
          <a:p>
            <a:r>
              <a:rPr lang="en-US" sz="4800" b="1" dirty="0">
                <a:latin typeface="Times New Roman" panose="02020603050405020304" pitchFamily="18" charset="0"/>
                <a:cs typeface="Times New Roman" panose="02020603050405020304" pitchFamily="18" charset="0"/>
              </a:rPr>
              <a:t>Deployment:</a:t>
            </a:r>
            <a:r>
              <a:rPr lang="en-US" sz="4800" dirty="0">
                <a:latin typeface="Times New Roman" panose="02020603050405020304" pitchFamily="18" charset="0"/>
                <a:cs typeface="Times New Roman" panose="02020603050405020304" pitchFamily="18" charset="0"/>
              </a:rPr>
              <a:t> The system was deployed with </a:t>
            </a:r>
            <a:r>
              <a:rPr lang="en-US" sz="4800" b="1" dirty="0">
                <a:latin typeface="Times New Roman" panose="02020603050405020304" pitchFamily="18" charset="0"/>
                <a:cs typeface="Times New Roman" panose="02020603050405020304" pitchFamily="18" charset="0"/>
              </a:rPr>
              <a:t>Fast API</a:t>
            </a:r>
            <a:r>
              <a:rPr lang="en-US" sz="4800" dirty="0">
                <a:latin typeface="Times New Roman" panose="02020603050405020304" pitchFamily="18" charset="0"/>
                <a:cs typeface="Times New Roman" panose="02020603050405020304" pitchFamily="18" charset="0"/>
              </a:rPr>
              <a:t> and </a:t>
            </a:r>
            <a:r>
              <a:rPr lang="en-US" sz="4800" b="1" dirty="0">
                <a:latin typeface="Times New Roman" panose="02020603050405020304" pitchFamily="18" charset="0"/>
                <a:cs typeface="Times New Roman" panose="02020603050405020304" pitchFamily="18" charset="0"/>
              </a:rPr>
              <a:t>Streamlit</a:t>
            </a:r>
            <a:r>
              <a:rPr lang="en-US" sz="4800" dirty="0">
                <a:latin typeface="Times New Roman" panose="02020603050405020304" pitchFamily="18" charset="0"/>
                <a:cs typeface="Times New Roman" panose="02020603050405020304" pitchFamily="18" charset="0"/>
              </a:rPr>
              <a:t>, enabling real-time flight ticket price predictions with interactive visualization and explanations, making it practical for travelers, travel agencies, and airline companies.</a:t>
            </a:r>
          </a:p>
          <a:p>
            <a:pPr marL="0" indent="0">
              <a:buNone/>
            </a:pPr>
            <a:r>
              <a:rPr lang="en-US" sz="4400" b="1" dirty="0">
                <a:latin typeface="Times New Roman" panose="02020603050405020304" pitchFamily="18" charset="0"/>
                <a:cs typeface="Times New Roman" panose="02020603050405020304" pitchFamily="18" charset="0"/>
              </a:rPr>
              <a:t>1. Best Model Chosen</a:t>
            </a:r>
          </a:p>
          <a:p>
            <a:r>
              <a:rPr lang="en-US" sz="4400" b="1" dirty="0">
                <a:latin typeface="Times New Roman" panose="02020603050405020304" pitchFamily="18" charset="0"/>
                <a:cs typeface="Times New Roman" panose="02020603050405020304" pitchFamily="18" charset="0"/>
              </a:rPr>
              <a:t>XGBoost Regressor</a:t>
            </a:r>
            <a:r>
              <a:rPr lang="en-US" sz="4400" dirty="0">
                <a:latin typeface="Times New Roman" panose="02020603050405020304" pitchFamily="18" charset="0"/>
                <a:cs typeface="Times New Roman" panose="02020603050405020304" pitchFamily="18" charset="0"/>
              </a:rPr>
              <a:t> (or your best-performing model, e.g., Random Forest / ResNet50) was selected as the final model.</a:t>
            </a:r>
          </a:p>
          <a:p>
            <a:pPr marL="0" indent="0">
              <a:buNone/>
            </a:pPr>
            <a:r>
              <a:rPr lang="en-US" sz="4400" b="1" dirty="0">
                <a:latin typeface="Times New Roman" panose="02020603050405020304" pitchFamily="18" charset="0"/>
                <a:cs typeface="Times New Roman" panose="02020603050405020304" pitchFamily="18" charset="0"/>
              </a:rPr>
              <a:t>2. Backend (Fast API)</a:t>
            </a:r>
          </a:p>
          <a:p>
            <a:r>
              <a:rPr lang="en-US" sz="4400" dirty="0">
                <a:latin typeface="Times New Roman" panose="02020603050405020304" pitchFamily="18" charset="0"/>
                <a:cs typeface="Times New Roman" panose="02020603050405020304" pitchFamily="18" charset="0"/>
              </a:rPr>
              <a:t>A lightweight server was built using </a:t>
            </a:r>
            <a:r>
              <a:rPr lang="en-US" sz="4400" b="1" dirty="0">
                <a:latin typeface="Times New Roman" panose="02020603050405020304" pitchFamily="18" charset="0"/>
                <a:cs typeface="Times New Roman" panose="02020603050405020304" pitchFamily="18" charset="0"/>
              </a:rPr>
              <a:t>Fast API</a:t>
            </a:r>
            <a:r>
              <a:rPr lang="en-US" sz="4400" dirty="0">
                <a:latin typeface="Times New Roman" panose="02020603050405020304" pitchFamily="18" charset="0"/>
                <a:cs typeface="Times New Roman" panose="02020603050405020304" pitchFamily="18" charset="0"/>
              </a:rPr>
              <a:t>.</a:t>
            </a:r>
          </a:p>
          <a:p>
            <a:r>
              <a:rPr lang="en-US" sz="4400" dirty="0">
                <a:latin typeface="Times New Roman" panose="02020603050405020304" pitchFamily="18" charset="0"/>
                <a:cs typeface="Times New Roman" panose="02020603050405020304" pitchFamily="18" charset="0"/>
              </a:rPr>
              <a:t>It has an endpoint /predict where user data (airline, source, destination, date, stops, duration, etc.) is sent.</a:t>
            </a:r>
          </a:p>
          <a:p>
            <a:r>
              <a:rPr lang="en-US" sz="4400" dirty="0">
                <a:latin typeface="Times New Roman" panose="02020603050405020304" pitchFamily="18" charset="0"/>
                <a:cs typeface="Times New Roman" panose="02020603050405020304" pitchFamily="18" charset="0"/>
              </a:rPr>
              <a:t>The model processes this input and returns the </a:t>
            </a:r>
            <a:r>
              <a:rPr lang="en-US" sz="4400" b="1" dirty="0">
                <a:latin typeface="Times New Roman" panose="02020603050405020304" pitchFamily="18" charset="0"/>
                <a:cs typeface="Times New Roman" panose="02020603050405020304" pitchFamily="18" charset="0"/>
              </a:rPr>
              <a:t>predicted ticket price</a:t>
            </a:r>
            <a:r>
              <a:rPr lang="en-US" sz="4400" dirty="0">
                <a:latin typeface="Times New Roman" panose="02020603050405020304" pitchFamily="18" charset="0"/>
                <a:cs typeface="Times New Roman" panose="02020603050405020304" pitchFamily="18" charset="0"/>
              </a:rPr>
              <a:t>.</a:t>
            </a:r>
          </a:p>
          <a:p>
            <a:pPr marL="0" indent="0">
              <a:buNone/>
            </a:pPr>
            <a:r>
              <a:rPr lang="en-US" sz="4400" b="1" dirty="0">
                <a:latin typeface="Times New Roman" panose="02020603050405020304" pitchFamily="18" charset="0"/>
                <a:cs typeface="Times New Roman" panose="02020603050405020304" pitchFamily="18" charset="0"/>
              </a:rPr>
              <a:t>3. Frontend (Stream lit App)</a:t>
            </a:r>
          </a:p>
          <a:p>
            <a:r>
              <a:rPr lang="en-US" sz="4400" dirty="0">
                <a:latin typeface="Times New Roman" panose="02020603050405020304" pitchFamily="18" charset="0"/>
                <a:cs typeface="Times New Roman" panose="02020603050405020304" pitchFamily="18" charset="0"/>
              </a:rPr>
              <a:t>A user-friendly interface was created with </a:t>
            </a:r>
            <a:r>
              <a:rPr lang="en-US" sz="4400" b="1" dirty="0">
                <a:latin typeface="Times New Roman" panose="02020603050405020304" pitchFamily="18" charset="0"/>
                <a:cs typeface="Times New Roman" panose="02020603050405020304" pitchFamily="18" charset="0"/>
              </a:rPr>
              <a:t>sliders, date pickers, and dropdowns</a:t>
            </a:r>
            <a:r>
              <a:rPr lang="en-US" sz="4400" dirty="0">
                <a:latin typeface="Times New Roman" panose="02020603050405020304" pitchFamily="18" charset="0"/>
                <a:cs typeface="Times New Roman" panose="02020603050405020304" pitchFamily="18" charset="0"/>
              </a:rPr>
              <a:t>.</a:t>
            </a:r>
          </a:p>
          <a:p>
            <a:r>
              <a:rPr lang="en-US" sz="4400" dirty="0">
                <a:latin typeface="Times New Roman" panose="02020603050405020304" pitchFamily="18" charset="0"/>
                <a:cs typeface="Times New Roman" panose="02020603050405020304" pitchFamily="18" charset="0"/>
              </a:rPr>
              <a:t>Users (travelers/agents) can input flight details (airline, source, destination, departure date, number of stops, etc.).</a:t>
            </a:r>
          </a:p>
          <a:p>
            <a:r>
              <a:rPr lang="en-US" sz="4400" dirty="0">
                <a:latin typeface="Times New Roman" panose="02020603050405020304" pitchFamily="18" charset="0"/>
                <a:cs typeface="Times New Roman" panose="02020603050405020304" pitchFamily="18" charset="0"/>
              </a:rPr>
              <a:t>The result is shown immediately, along with key factors affecting the price (e.g., non-stop flights are costlier than 1-stop flights).</a:t>
            </a:r>
          </a:p>
          <a:p>
            <a:pPr marL="0" indent="0">
              <a:buNone/>
            </a:pPr>
            <a:r>
              <a:rPr lang="en-US" sz="4400" b="1" dirty="0">
                <a:latin typeface="Times New Roman" panose="02020603050405020304" pitchFamily="18" charset="0"/>
                <a:cs typeface="Times New Roman" panose="02020603050405020304" pitchFamily="18" charset="0"/>
              </a:rPr>
              <a:t>4. Real-Time Prediction</a:t>
            </a:r>
          </a:p>
          <a:p>
            <a:r>
              <a:rPr lang="en-US" sz="4400" dirty="0">
                <a:latin typeface="Times New Roman" panose="02020603050405020304" pitchFamily="18" charset="0"/>
                <a:cs typeface="Times New Roman" panose="02020603050405020304" pitchFamily="18" charset="0"/>
              </a:rPr>
              <a:t>The system validates the input (e.g., valid routes, realistic durations, non-negative values).</a:t>
            </a:r>
          </a:p>
          <a:p>
            <a:r>
              <a:rPr lang="en-US" sz="4400" dirty="0">
                <a:latin typeface="Times New Roman" panose="02020603050405020304" pitchFamily="18" charset="0"/>
                <a:cs typeface="Times New Roman" panose="02020603050405020304" pitchFamily="18" charset="0"/>
              </a:rPr>
              <a:t>Predictions are generated instantly (</a:t>
            </a:r>
            <a:r>
              <a:rPr lang="en-US" sz="4400" b="1" dirty="0">
                <a:latin typeface="Times New Roman" panose="02020603050405020304" pitchFamily="18" charset="0"/>
                <a:cs typeface="Times New Roman" panose="02020603050405020304" pitchFamily="18" charset="0"/>
              </a:rPr>
              <a:t>&lt; 2 seconds</a:t>
            </a:r>
            <a:r>
              <a:rPr lang="en-US" sz="4400" dirty="0">
                <a:latin typeface="Times New Roman" panose="02020603050405020304" pitchFamily="18" charset="0"/>
                <a:cs typeface="Times New Roman" panose="02020603050405020304" pitchFamily="18" charset="0"/>
              </a:rPr>
              <a:t>).</a:t>
            </a:r>
          </a:p>
          <a:p>
            <a:r>
              <a:rPr lang="en-US" sz="4400" dirty="0">
                <a:latin typeface="Times New Roman" panose="02020603050405020304" pitchFamily="18" charset="0"/>
                <a:cs typeface="Times New Roman" panose="02020603050405020304" pitchFamily="18" charset="0"/>
              </a:rPr>
              <a:t>Works smoothly across browsers (Chrome, Firefox, Safari).</a:t>
            </a:r>
          </a:p>
          <a:p>
            <a:pPr marL="0" indent="0">
              <a:buNone/>
            </a:pPr>
            <a:r>
              <a:rPr lang="en-US" sz="4400" b="1" dirty="0">
                <a:latin typeface="Times New Roman" panose="02020603050405020304" pitchFamily="18" charset="0"/>
                <a:cs typeface="Times New Roman" panose="02020603050405020304" pitchFamily="18" charset="0"/>
              </a:rPr>
              <a:t>5. Scalability &amp; Fairness</a:t>
            </a:r>
          </a:p>
          <a:p>
            <a:r>
              <a:rPr lang="en-US" sz="4400" dirty="0">
                <a:latin typeface="Times New Roman" panose="02020603050405020304" pitchFamily="18" charset="0"/>
                <a:cs typeface="Times New Roman" panose="02020603050405020304" pitchFamily="18" charset="0"/>
              </a:rPr>
              <a:t>Designed to handle multiple requests simultaneously.</a:t>
            </a:r>
          </a:p>
          <a:p>
            <a:r>
              <a:rPr lang="en-US" sz="4400" dirty="0">
                <a:latin typeface="Times New Roman" panose="02020603050405020304" pitchFamily="18" charset="0"/>
                <a:cs typeface="Times New Roman" panose="02020603050405020304" pitchFamily="18" charset="0"/>
              </a:rPr>
              <a:t>Fairness checks ensure </a:t>
            </a:r>
            <a:r>
              <a:rPr lang="en-US" sz="4400" b="1" dirty="0">
                <a:latin typeface="Times New Roman" panose="02020603050405020304" pitchFamily="18" charset="0"/>
                <a:cs typeface="Times New Roman" panose="02020603050405020304" pitchFamily="18" charset="0"/>
              </a:rPr>
              <a:t>no bias against specific airlines, routes, or seasons</a:t>
            </a:r>
            <a:r>
              <a:rPr lang="en-US" sz="4400" dirty="0">
                <a:latin typeface="Times New Roman" panose="02020603050405020304" pitchFamily="18" charset="0"/>
                <a:cs typeface="Times New Roman" panose="02020603050405020304" pitchFamily="18" charset="0"/>
              </a:rPr>
              <a:t>.</a:t>
            </a:r>
          </a:p>
          <a:p>
            <a:r>
              <a:rPr lang="en-US" sz="4400" dirty="0">
                <a:latin typeface="Times New Roman" panose="02020603050405020304" pitchFamily="18" charset="0"/>
                <a:cs typeface="Times New Roman" panose="02020603050405020304" pitchFamily="18" charset="0"/>
              </a:rPr>
              <a:t>Can be extended to cloud platforms (AWS, GCP, Azure) for large-scale use.</a:t>
            </a:r>
          </a:p>
          <a:p>
            <a:endParaRPr lang="en-IN" dirty="0"/>
          </a:p>
        </p:txBody>
      </p:sp>
    </p:spTree>
    <p:extLst>
      <p:ext uri="{BB962C8B-B14F-4D97-AF65-F5344CB8AC3E}">
        <p14:creationId xmlns:p14="http://schemas.microsoft.com/office/powerpoint/2010/main" val="3317942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B6AFF-37C4-4419-E9E5-BD9507B268A7}"/>
              </a:ext>
            </a:extLst>
          </p:cNvPr>
          <p:cNvSpPr>
            <a:spLocks noGrp="1"/>
          </p:cNvSpPr>
          <p:nvPr>
            <p:ph type="title"/>
          </p:nvPr>
        </p:nvSpPr>
        <p:spPr>
          <a:xfrm>
            <a:off x="581192" y="702156"/>
            <a:ext cx="11029616" cy="842865"/>
          </a:xfrm>
        </p:spPr>
        <p:txBody>
          <a:bodyPr>
            <a:normAutofit fontScale="90000"/>
          </a:bodyPr>
          <a:lstStyle/>
          <a:p>
            <a:pPr algn="ctr"/>
            <a:r>
              <a:rPr lang="en-IN" b="1" dirty="0">
                <a:solidFill>
                  <a:srgbClr val="7030A0"/>
                </a:solidFill>
              </a:rPr>
              <a:t>DEPLOYMENT INSTRUCTIONS</a:t>
            </a:r>
            <a:br>
              <a:rPr lang="en-IN" b="1" dirty="0"/>
            </a:br>
            <a:endParaRPr lang="en-IN" dirty="0"/>
          </a:p>
        </p:txBody>
      </p:sp>
      <p:sp>
        <p:nvSpPr>
          <p:cNvPr id="3" name="Content Placeholder 2">
            <a:extLst>
              <a:ext uri="{FF2B5EF4-FFF2-40B4-BE49-F238E27FC236}">
                <a16:creationId xmlns:a16="http://schemas.microsoft.com/office/drawing/2014/main" id="{877B838E-1C99-AB50-F9B7-8C5A75A84D82}"/>
              </a:ext>
            </a:extLst>
          </p:cNvPr>
          <p:cNvSpPr>
            <a:spLocks noGrp="1"/>
          </p:cNvSpPr>
          <p:nvPr>
            <p:ph idx="1"/>
          </p:nvPr>
        </p:nvSpPr>
        <p:spPr>
          <a:xfrm>
            <a:off x="581192" y="1671145"/>
            <a:ext cx="11029615" cy="4719145"/>
          </a:xfrm>
        </p:spPr>
        <p:txBody>
          <a:bodyPr>
            <a:normAutofit fontScale="25000" lnSpcReduction="20000"/>
          </a:bodyPr>
          <a:lstStyle/>
          <a:p>
            <a:pPr>
              <a:buNone/>
            </a:pPr>
            <a:r>
              <a:rPr lang="en-IN" sz="7200" b="1" dirty="0">
                <a:latin typeface="Times New Roman" panose="02020603050405020304" pitchFamily="18" charset="0"/>
                <a:cs typeface="Times New Roman" panose="02020603050405020304" pitchFamily="18" charset="0"/>
              </a:rPr>
              <a:t>• Setup:</a:t>
            </a:r>
            <a:endParaRPr lang="en-IN" sz="7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7200" dirty="0">
                <a:latin typeface="Times New Roman" panose="02020603050405020304" pitchFamily="18" charset="0"/>
                <a:cs typeface="Times New Roman" panose="02020603050405020304" pitchFamily="18" charset="0"/>
              </a:rPr>
              <a:t>Install Python 3.10+, create a virtual environment.</a:t>
            </a:r>
          </a:p>
          <a:p>
            <a:pPr>
              <a:buFont typeface="Arial" panose="020B0604020202020204" pitchFamily="34" charset="0"/>
              <a:buChar char="•"/>
            </a:pPr>
            <a:r>
              <a:rPr lang="en-IN" sz="7200" dirty="0">
                <a:latin typeface="Times New Roman" panose="02020603050405020304" pitchFamily="18" charset="0"/>
                <a:cs typeface="Times New Roman" panose="02020603050405020304" pitchFamily="18" charset="0"/>
              </a:rPr>
              <a:t>Install dependencies: pip install -r requirements.txt.</a:t>
            </a:r>
          </a:p>
          <a:p>
            <a:pPr>
              <a:buNone/>
            </a:pPr>
            <a:r>
              <a:rPr lang="en-IN" sz="7200" b="1" dirty="0">
                <a:latin typeface="Times New Roman" panose="02020603050405020304" pitchFamily="18" charset="0"/>
                <a:cs typeface="Times New Roman" panose="02020603050405020304" pitchFamily="18" charset="0"/>
              </a:rPr>
              <a:t>• Run Backend:</a:t>
            </a:r>
            <a:endParaRPr lang="en-IN" sz="7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7200" dirty="0">
                <a:latin typeface="Times New Roman" panose="02020603050405020304" pitchFamily="18" charset="0"/>
                <a:cs typeface="Times New Roman" panose="02020603050405020304" pitchFamily="18" charset="0"/>
              </a:rPr>
              <a:t>Fast API/Flask: uvicorn app:app --reload (Fast API) or python app.py (Flask).</a:t>
            </a:r>
          </a:p>
          <a:p>
            <a:pPr>
              <a:buNone/>
            </a:pPr>
            <a:r>
              <a:rPr lang="en-IN" sz="7200" b="1" dirty="0">
                <a:latin typeface="Times New Roman" panose="02020603050405020304" pitchFamily="18" charset="0"/>
                <a:cs typeface="Times New Roman" panose="02020603050405020304" pitchFamily="18" charset="0"/>
              </a:rPr>
              <a:t>• Run Frontend:</a:t>
            </a:r>
            <a:endParaRPr lang="en-IN" sz="7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7200" dirty="0">
                <a:latin typeface="Times New Roman" panose="02020603050405020304" pitchFamily="18" charset="0"/>
                <a:cs typeface="Times New Roman" panose="02020603050405020304" pitchFamily="18" charset="0"/>
              </a:rPr>
              <a:t>Streamlit: stream lit run main.py.</a:t>
            </a:r>
          </a:p>
          <a:p>
            <a:pPr>
              <a:buNone/>
            </a:pPr>
            <a:r>
              <a:rPr lang="en-IN" sz="7200" b="1" dirty="0">
                <a:latin typeface="Times New Roman" panose="02020603050405020304" pitchFamily="18" charset="0"/>
                <a:cs typeface="Times New Roman" panose="02020603050405020304" pitchFamily="18" charset="0"/>
              </a:rPr>
              <a:t>• Access:</a:t>
            </a:r>
            <a:endParaRPr lang="en-IN" sz="7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7200" dirty="0">
                <a:latin typeface="Times New Roman" panose="02020603050405020304" pitchFamily="18" charset="0"/>
                <a:cs typeface="Times New Roman" panose="02020603050405020304" pitchFamily="18" charset="0"/>
              </a:rPr>
              <a:t>Fast API Endpoint: http://127.0.0.1:8000/predict</a:t>
            </a:r>
          </a:p>
          <a:p>
            <a:pPr>
              <a:buFont typeface="Arial" panose="020B0604020202020204" pitchFamily="34" charset="0"/>
              <a:buChar char="•"/>
            </a:pPr>
            <a:r>
              <a:rPr lang="en-IN" sz="7200" dirty="0">
                <a:latin typeface="Times New Roman" panose="02020603050405020304" pitchFamily="18" charset="0"/>
                <a:cs typeface="Times New Roman" panose="02020603050405020304" pitchFamily="18" charset="0"/>
              </a:rPr>
              <a:t>Stream lit Interface: http://localhost:8501</a:t>
            </a:r>
          </a:p>
          <a:p>
            <a:pPr>
              <a:buNone/>
            </a:pPr>
            <a:r>
              <a:rPr lang="en-IN" sz="7200" b="1" dirty="0">
                <a:latin typeface="Times New Roman" panose="02020603050405020304" pitchFamily="18" charset="0"/>
                <a:cs typeface="Times New Roman" panose="02020603050405020304" pitchFamily="18" charset="0"/>
              </a:rPr>
              <a:t>• Troubleshoot:</a:t>
            </a:r>
            <a:endParaRPr lang="en-IN" sz="7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7200" dirty="0">
                <a:latin typeface="Times New Roman" panose="02020603050405020304" pitchFamily="18" charset="0"/>
                <a:cs typeface="Times New Roman" panose="02020603050405020304" pitchFamily="18" charset="0"/>
              </a:rPr>
              <a:t>Ensure ports 8000/8501 are free.</a:t>
            </a:r>
          </a:p>
          <a:p>
            <a:pPr>
              <a:buFont typeface="Arial" panose="020B0604020202020204" pitchFamily="34" charset="0"/>
              <a:buChar char="•"/>
            </a:pPr>
            <a:r>
              <a:rPr lang="en-IN" sz="7200" dirty="0">
                <a:latin typeface="Times New Roman" panose="02020603050405020304" pitchFamily="18" charset="0"/>
                <a:cs typeface="Times New Roman" panose="02020603050405020304" pitchFamily="18" charset="0"/>
              </a:rPr>
              <a:t>Verify that model artifacts (rf_model.pkl, xgb_model.pkl, ann_model.h5) are in the correct directory.</a:t>
            </a:r>
          </a:p>
          <a:p>
            <a:pPr>
              <a:buFont typeface="Arial" panose="020B0604020202020204" pitchFamily="34" charset="0"/>
              <a:buChar char="•"/>
            </a:pPr>
            <a:r>
              <a:rPr lang="en-IN" sz="7200" dirty="0">
                <a:latin typeface="Times New Roman" panose="02020603050405020304" pitchFamily="18" charset="0"/>
                <a:cs typeface="Times New Roman" panose="02020603050405020304" pitchFamily="18" charset="0"/>
              </a:rPr>
              <a:t>If using GPU for ANN, install </a:t>
            </a:r>
            <a:r>
              <a:rPr lang="en-IN" sz="7200" b="1" dirty="0">
                <a:latin typeface="Times New Roman" panose="02020603050405020304" pitchFamily="18" charset="0"/>
                <a:cs typeface="Times New Roman" panose="02020603050405020304" pitchFamily="18" charset="0"/>
              </a:rPr>
              <a:t>TensorFlow-GPU</a:t>
            </a:r>
            <a:r>
              <a:rPr lang="en-IN" sz="7200"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18061327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2DB4E-1FC7-6D13-AD61-A4D9F020ADED}"/>
              </a:ext>
            </a:extLst>
          </p:cNvPr>
          <p:cNvSpPr>
            <a:spLocks noGrp="1"/>
          </p:cNvSpPr>
          <p:nvPr>
            <p:ph type="title"/>
          </p:nvPr>
        </p:nvSpPr>
        <p:spPr>
          <a:xfrm>
            <a:off x="581192" y="702156"/>
            <a:ext cx="11029616" cy="701141"/>
          </a:xfrm>
        </p:spPr>
        <p:txBody>
          <a:bodyPr/>
          <a:lstStyle/>
          <a:p>
            <a:pPr algn="ctr"/>
            <a:r>
              <a:rPr lang="en-GB" b="1" dirty="0">
                <a:solidFill>
                  <a:srgbClr val="7030A0"/>
                </a:solidFill>
                <a:latin typeface="Calibri"/>
                <a:ea typeface="Calibri"/>
                <a:cs typeface="Calibri"/>
                <a:sym typeface="Calibri"/>
              </a:rPr>
              <a:t>DEPLOYMENT RESULTS </a:t>
            </a:r>
            <a:endParaRPr lang="en-IN" dirty="0">
              <a:solidFill>
                <a:srgbClr val="7030A0"/>
              </a:solidFill>
            </a:endParaRPr>
          </a:p>
        </p:txBody>
      </p:sp>
      <p:pic>
        <p:nvPicPr>
          <p:cNvPr id="5" name="Content Placeholder 4" descr="A screenshot of a flight details&#10;&#10;AI-generated content may be incorrect.">
            <a:extLst>
              <a:ext uri="{FF2B5EF4-FFF2-40B4-BE49-F238E27FC236}">
                <a16:creationId xmlns:a16="http://schemas.microsoft.com/office/drawing/2014/main" id="{7FDBE7B1-353B-20CB-4C88-17642D19BC88}"/>
              </a:ext>
            </a:extLst>
          </p:cNvPr>
          <p:cNvPicPr>
            <a:picLocks noGrp="1" noChangeAspect="1"/>
          </p:cNvPicPr>
          <p:nvPr>
            <p:ph idx="1"/>
          </p:nvPr>
        </p:nvPicPr>
        <p:blipFill>
          <a:blip r:embed="rId2"/>
          <a:stretch>
            <a:fillRect/>
          </a:stretch>
        </p:blipFill>
        <p:spPr>
          <a:xfrm>
            <a:off x="0" y="1776248"/>
            <a:ext cx="5318234" cy="4591936"/>
          </a:xfrm>
        </p:spPr>
      </p:pic>
      <p:pic>
        <p:nvPicPr>
          <p:cNvPr id="7" name="Picture 6" descr="A screenshot of a flight registration form&#10;&#10;AI-generated content may be incorrect.">
            <a:extLst>
              <a:ext uri="{FF2B5EF4-FFF2-40B4-BE49-F238E27FC236}">
                <a16:creationId xmlns:a16="http://schemas.microsoft.com/office/drawing/2014/main" id="{DEC0B726-B2DF-7CAC-B243-33D42B7819A7}"/>
              </a:ext>
            </a:extLst>
          </p:cNvPr>
          <p:cNvPicPr>
            <a:picLocks noChangeAspect="1"/>
          </p:cNvPicPr>
          <p:nvPr/>
        </p:nvPicPr>
        <p:blipFill>
          <a:blip r:embed="rId3"/>
          <a:stretch>
            <a:fillRect/>
          </a:stretch>
        </p:blipFill>
        <p:spPr>
          <a:xfrm>
            <a:off x="4519448" y="1890876"/>
            <a:ext cx="6950657" cy="4477308"/>
          </a:xfrm>
          <a:prstGeom prst="rect">
            <a:avLst/>
          </a:prstGeom>
        </p:spPr>
      </p:pic>
    </p:spTree>
    <p:extLst>
      <p:ext uri="{BB962C8B-B14F-4D97-AF65-F5344CB8AC3E}">
        <p14:creationId xmlns:p14="http://schemas.microsoft.com/office/powerpoint/2010/main" val="16122511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9CA6-11C3-9FEF-E7D3-68A24D4DA8ED}"/>
              </a:ext>
            </a:extLst>
          </p:cNvPr>
          <p:cNvSpPr>
            <a:spLocks noGrp="1"/>
          </p:cNvSpPr>
          <p:nvPr>
            <p:ph type="title"/>
          </p:nvPr>
        </p:nvSpPr>
        <p:spPr>
          <a:xfrm>
            <a:off x="581192" y="702156"/>
            <a:ext cx="11029616" cy="1673182"/>
          </a:xfrm>
        </p:spPr>
        <p:txBody>
          <a:bodyPr/>
          <a:lstStyle/>
          <a:p>
            <a:pPr algn="ctr"/>
            <a:r>
              <a:rPr lang="en-US" b="1" cap="none" dirty="0">
                <a:solidFill>
                  <a:srgbClr val="7030A0"/>
                </a:solidFill>
                <a:latin typeface="Times New Roman" panose="02020603050405020304" pitchFamily="18" charset="0"/>
                <a:cs typeface="Times New Roman" panose="02020603050405020304" pitchFamily="18" charset="0"/>
              </a:rPr>
              <a:t>CHALLENGES AND LIMITATIONS</a:t>
            </a:r>
            <a:br>
              <a:rPr lang="en-US" b="1" cap="none" dirty="0">
                <a:solidFill>
                  <a:prstClr val="black"/>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958F17C4-4436-0101-840A-42A3C03ACCB3}"/>
              </a:ext>
            </a:extLst>
          </p:cNvPr>
          <p:cNvSpPr>
            <a:spLocks noGrp="1"/>
          </p:cNvSpPr>
          <p:nvPr>
            <p:ph idx="1"/>
          </p:nvPr>
        </p:nvSpPr>
        <p:spPr>
          <a:xfrm>
            <a:off x="581193" y="2123089"/>
            <a:ext cx="11029615" cy="3894301"/>
          </a:xfrm>
        </p:spPr>
        <p:txBody>
          <a:bodyPr>
            <a:normAutofit fontScale="55000" lnSpcReduction="20000"/>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Data Quality and Completeness</a:t>
            </a:r>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L="1028700" marR="0" lvl="1" indent="-571500" algn="just"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Challenge</a:t>
            </a:r>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The dataset may include </a:t>
            </a: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missing values, inconsistent formats, </a:t>
            </a:r>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which can degrade model performance..</a:t>
            </a:r>
          </a:p>
          <a:p>
            <a:pPr marL="1028700" marR="0" lvl="1" indent="-571500" algn="just"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Limitation: The</a:t>
            </a:r>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dataset is </a:t>
            </a: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limited in size (1063 rows)</a:t>
            </a:r>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and </a:t>
            </a: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specific to Indian flights</a:t>
            </a:r>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reducing the model's ability to generalize to international or future flight data.</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Feature Selection</a:t>
            </a:r>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L="1028700" marR="0" lvl="1" indent="-571500" algn="just"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Challenge</a:t>
            </a:r>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model depends on features like </a:t>
            </a:r>
            <a:r>
              <a:rPr kumimoji="0" lang="en-IN"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Airline,Source,Destination,Date,stops and Duratioon,but excludes external variables like weather conditions, Airline Promotions.</a:t>
            </a:r>
            <a:endPar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1028700" marR="0" lvl="1" indent="-571500" algn="just"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Limitation: The</a:t>
            </a:r>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absence of dynamic pricing factors</a:t>
            </a:r>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can limit the model’s accuracy for real-world, time-sensitive predictions.</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Model Performance</a:t>
            </a:r>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L="1028700" marR="0" lvl="1" indent="-571500" algn="just"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Challenge: Even</a:t>
            </a:r>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though models like XGBoost and Random Forest give good results (e.g., </a:t>
            </a: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R² ~ 0.88+</a:t>
            </a:r>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there's still room to improve metrics like </a:t>
            </a: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RMSE or MAE</a:t>
            </a:r>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Limitation : </a:t>
            </a:r>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Models may perform poorly when predicting for: Rare</a:t>
            </a: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airlines or routes,</a:t>
            </a:r>
            <a:r>
              <a:rPr kumimoji="0" lang="en-IN"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Outlier durations</a:t>
            </a:r>
            <a:r>
              <a:rPr kumimoji="0" lang="en-IN"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endPar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632249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0AC64-B6F4-ADCD-CD50-7F9DC9A93AB2}"/>
              </a:ext>
            </a:extLst>
          </p:cNvPr>
          <p:cNvSpPr>
            <a:spLocks noGrp="1"/>
          </p:cNvSpPr>
          <p:nvPr>
            <p:ph type="title"/>
          </p:nvPr>
        </p:nvSpPr>
        <p:spPr/>
        <p:txBody>
          <a:bodyPr/>
          <a:lstStyle/>
          <a:p>
            <a:pPr algn="ctr"/>
            <a:r>
              <a:rPr lang="en-US" b="1" cap="none" dirty="0">
                <a:solidFill>
                  <a:srgbClr val="7030A0"/>
                </a:solidFill>
                <a:latin typeface="Times New Roman" panose="02020603050405020304" pitchFamily="18" charset="0"/>
                <a:cs typeface="Times New Roman" panose="02020603050405020304" pitchFamily="18" charset="0"/>
              </a:rPr>
              <a:t>CONCLUSION</a:t>
            </a:r>
            <a:endParaRPr lang="en-IN" dirty="0">
              <a:solidFill>
                <a:srgbClr val="7030A0"/>
              </a:solidFill>
            </a:endParaRPr>
          </a:p>
        </p:txBody>
      </p:sp>
      <p:sp>
        <p:nvSpPr>
          <p:cNvPr id="3" name="Content Placeholder 2">
            <a:extLst>
              <a:ext uri="{FF2B5EF4-FFF2-40B4-BE49-F238E27FC236}">
                <a16:creationId xmlns:a16="http://schemas.microsoft.com/office/drawing/2014/main" id="{B4FDCE77-32FF-0223-BF38-CB91F1B4282C}"/>
              </a:ext>
            </a:extLst>
          </p:cNvPr>
          <p:cNvSpPr>
            <a:spLocks noGrp="1"/>
          </p:cNvSpPr>
          <p:nvPr>
            <p:ph idx="1"/>
          </p:nvPr>
        </p:nvSpPr>
        <p:spPr>
          <a:xfrm>
            <a:off x="581192" y="1502979"/>
            <a:ext cx="11029615" cy="5202621"/>
          </a:xfrm>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project successfully developed a system to predict flight ticket prices using both </a:t>
            </a: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Machine Learning (ML)</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and </a:t>
            </a: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Deep Learning (DL)</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models. Among the models tested, </a:t>
            </a: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XGBoost</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and </a:t>
            </a: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ANN (Artificial Neural Network)</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gave strong results, with good accuracy and low error scores.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solution included steps like </a:t>
            </a: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data preprocessing, feature engineering, model training, evaluation</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and deployment using tools like </a:t>
            </a: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Streamlit</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and </a:t>
            </a:r>
            <a:r>
              <a:rPr kumimoji="0" lang="en-US" sz="2000" b="1"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FastAPI</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This makes the tool easy to use for users like travelers or travel agencies.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Even though there were some challenges—such as limited data size and missing external factors (like weather or fuel costs)—the models still performed well in predicting prices. This project shows that </a:t>
            </a: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data-driven approaches</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can help users </a:t>
            </a: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plan their trips better</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and </a:t>
            </a: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save money</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by understanding price trends.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system can be further improved in the future with real-time data, more features, and mobile app integration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87804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707C7-2155-C97C-6EDD-DA79347C0F98}"/>
              </a:ext>
            </a:extLst>
          </p:cNvPr>
          <p:cNvSpPr>
            <a:spLocks noGrp="1"/>
          </p:cNvSpPr>
          <p:nvPr>
            <p:ph type="title"/>
          </p:nvPr>
        </p:nvSpPr>
        <p:spPr/>
        <p:txBody>
          <a:bodyPr/>
          <a:lstStyle/>
          <a:p>
            <a:pPr algn="ctr"/>
            <a:r>
              <a:rPr lang="en-US" b="1" dirty="0">
                <a:solidFill>
                  <a:srgbClr val="7030A0"/>
                </a:solidFill>
                <a:latin typeface="Times New Roman" panose="02020603050405020304" pitchFamily="18" charset="0"/>
                <a:cs typeface="Times New Roman" panose="02020603050405020304" pitchFamily="18" charset="0"/>
              </a:rPr>
              <a:t>FUTURE IMPROVEMENTS</a:t>
            </a:r>
            <a:br>
              <a:rPr lang="en-US"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A5656279-ADC0-BD74-F3E2-8D86155AB7ED}"/>
              </a:ext>
            </a:extLst>
          </p:cNvPr>
          <p:cNvSpPr>
            <a:spLocks noGrp="1"/>
          </p:cNvSpPr>
          <p:nvPr>
            <p:ph idx="1"/>
          </p:nvPr>
        </p:nvSpPr>
        <p:spPr>
          <a:xfrm>
            <a:off x="581192" y="1744716"/>
            <a:ext cx="11029615" cy="4687615"/>
          </a:xfrm>
        </p:spPr>
        <p:txBody>
          <a:bodyPr>
            <a:normAutofit fontScale="47500" lnSpcReduction="20000"/>
          </a:bodyPr>
          <a:lstStyle/>
          <a:p>
            <a:pPr algn="just">
              <a:lnSpc>
                <a:spcPct val="150000"/>
              </a:lnSpc>
            </a:pPr>
            <a:r>
              <a:rPr lang="en-US" sz="4500" b="1" dirty="0">
                <a:latin typeface="Times New Roman" panose="02020603050405020304" pitchFamily="18" charset="0"/>
                <a:cs typeface="Times New Roman" panose="02020603050405020304" pitchFamily="18" charset="0"/>
              </a:rPr>
              <a:t>Incorporate Time-Series Models</a:t>
            </a:r>
            <a:r>
              <a:rPr lang="en-US" sz="4500" dirty="0">
                <a:latin typeface="Times New Roman" panose="02020603050405020304" pitchFamily="18" charset="0"/>
                <a:cs typeface="Times New Roman" panose="02020603050405020304" pitchFamily="18" charset="0"/>
              </a:rPr>
              <a:t>:  Explore models like ARIMA, Prophet, or LSTM to understand how flight prices change over   time, along with the existing XGBoost model.</a:t>
            </a:r>
          </a:p>
          <a:p>
            <a:pPr algn="just"/>
            <a:r>
              <a:rPr lang="en-US" sz="4500" b="1" dirty="0">
                <a:latin typeface="Times New Roman" panose="02020603050405020304" pitchFamily="18" charset="0"/>
                <a:cs typeface="Times New Roman" panose="02020603050405020304" pitchFamily="18" charset="0"/>
              </a:rPr>
              <a:t>Expand Feature Set</a:t>
            </a:r>
            <a:r>
              <a:rPr lang="en-US" sz="4500" dirty="0">
                <a:latin typeface="Times New Roman" panose="02020603050405020304" pitchFamily="18" charset="0"/>
                <a:cs typeface="Times New Roman" panose="02020603050405020304" pitchFamily="18" charset="0"/>
              </a:rPr>
              <a:t>: Add more data like weather conditions, public holidays, fuel prices, and airline policies to better understand price changes.</a:t>
            </a:r>
          </a:p>
          <a:p>
            <a:pPr algn="just"/>
            <a:r>
              <a:rPr lang="en-US" sz="4500" b="1" dirty="0">
                <a:latin typeface="Times New Roman" panose="02020603050405020304" pitchFamily="18" charset="0"/>
                <a:cs typeface="Times New Roman" panose="02020603050405020304" pitchFamily="18" charset="0"/>
              </a:rPr>
              <a:t>Real-Time Data Integration</a:t>
            </a:r>
            <a:r>
              <a:rPr lang="en-US" sz="4500" dirty="0">
                <a:latin typeface="Times New Roman" panose="02020603050405020304" pitchFamily="18" charset="0"/>
                <a:cs typeface="Times New Roman" panose="02020603050405020304" pitchFamily="18" charset="0"/>
              </a:rPr>
              <a:t>:</a:t>
            </a:r>
          </a:p>
          <a:p>
            <a:pPr marL="324000" lvl="1" indent="0" algn="just">
              <a:buNone/>
            </a:pPr>
            <a:r>
              <a:rPr lang="en-US" sz="4500" dirty="0">
                <a:latin typeface="Times New Roman" panose="02020603050405020304" pitchFamily="18" charset="0"/>
                <a:cs typeface="Times New Roman" panose="02020603050405020304" pitchFamily="18" charset="0"/>
              </a:rPr>
              <a:t>Develop a pipeline to ingest real-time market data, enabling dynamic updates to predictions and improving responsiveness to market changes.</a:t>
            </a:r>
          </a:p>
          <a:p>
            <a:pPr algn="just"/>
            <a:r>
              <a:rPr lang="en-US" sz="4500" b="1" dirty="0">
                <a:latin typeface="Times New Roman" panose="02020603050405020304" pitchFamily="18" charset="0"/>
                <a:cs typeface="Times New Roman" panose="02020603050405020304" pitchFamily="18" charset="0"/>
              </a:rPr>
              <a:t>Multi-Region Generalization </a:t>
            </a:r>
            <a:r>
              <a:rPr lang="en-US" sz="4500" dirty="0">
                <a:latin typeface="Times New Roman" panose="02020603050405020304" pitchFamily="18" charset="0"/>
                <a:cs typeface="Times New Roman" panose="02020603050405020304" pitchFamily="18" charset="0"/>
              </a:rPr>
              <a:t>: Train the model using data from different Indian states or countries so it can work for more locations, not just one region.</a:t>
            </a:r>
            <a:r>
              <a:rPr lang="en-US" sz="4500" b="1" dirty="0">
                <a:latin typeface="Times New Roman" panose="02020603050405020304" pitchFamily="18" charset="0"/>
                <a:cs typeface="Times New Roman" panose="02020603050405020304" pitchFamily="18" charset="0"/>
              </a:rPr>
              <a:t>                                         </a:t>
            </a:r>
          </a:p>
          <a:p>
            <a:pPr algn="just"/>
            <a:r>
              <a:rPr lang="en-US" sz="4500" b="1" dirty="0">
                <a:latin typeface="Times New Roman" panose="02020603050405020304" pitchFamily="18" charset="0"/>
                <a:cs typeface="Times New Roman" panose="02020603050405020304" pitchFamily="18" charset="0"/>
              </a:rPr>
              <a:t>Mobile App Development: Build</a:t>
            </a:r>
            <a:r>
              <a:rPr lang="en-US" sz="4500" dirty="0">
                <a:latin typeface="Times New Roman" panose="02020603050405020304" pitchFamily="18" charset="0"/>
                <a:cs typeface="Times New Roman" panose="02020603050405020304" pitchFamily="18" charset="0"/>
              </a:rPr>
              <a:t> a mobile app using Flutter or React Native to make flight price predictions easy and accessible for users on smartphones.</a:t>
            </a:r>
          </a:p>
          <a:p>
            <a:endParaRPr lang="en-IN" dirty="0"/>
          </a:p>
        </p:txBody>
      </p:sp>
    </p:spTree>
    <p:extLst>
      <p:ext uri="{BB962C8B-B14F-4D97-AF65-F5344CB8AC3E}">
        <p14:creationId xmlns:p14="http://schemas.microsoft.com/office/powerpoint/2010/main" val="34947914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7219B-2754-7BAB-F6E3-EBC247B1C5ED}"/>
              </a:ext>
            </a:extLst>
          </p:cNvPr>
          <p:cNvSpPr>
            <a:spLocks noGrp="1"/>
          </p:cNvSpPr>
          <p:nvPr>
            <p:ph type="title"/>
          </p:nvPr>
        </p:nvSpPr>
        <p:spPr/>
        <p:txBody>
          <a:bodyPr>
            <a:normAutofit fontScale="90000"/>
          </a:bodyPr>
          <a:lstStyle/>
          <a:p>
            <a:pPr algn="ctr"/>
            <a:br>
              <a:rPr lang="en-IN" dirty="0"/>
            </a:br>
            <a:r>
              <a:rPr lang="en-IN" b="1" dirty="0">
                <a:solidFill>
                  <a:srgbClr val="7030A0"/>
                </a:solidFill>
                <a:latin typeface="Times New Roman" panose="02020603050405020304" pitchFamily="18" charset="0"/>
                <a:cs typeface="Times New Roman" panose="02020603050405020304" pitchFamily="18" charset="0"/>
              </a:rPr>
              <a:t>References</a:t>
            </a:r>
            <a:br>
              <a:rPr lang="en-IN" dirty="0"/>
            </a:br>
            <a:endParaRPr lang="en-IN" dirty="0"/>
          </a:p>
        </p:txBody>
      </p:sp>
      <p:sp>
        <p:nvSpPr>
          <p:cNvPr id="3" name="Content Placeholder 2">
            <a:extLst>
              <a:ext uri="{FF2B5EF4-FFF2-40B4-BE49-F238E27FC236}">
                <a16:creationId xmlns:a16="http://schemas.microsoft.com/office/drawing/2014/main" id="{5F09EB49-8038-8111-3896-6BAC51D17012}"/>
              </a:ext>
            </a:extLst>
          </p:cNvPr>
          <p:cNvSpPr>
            <a:spLocks noGrp="1"/>
          </p:cNvSpPr>
          <p:nvPr>
            <p:ph idx="1"/>
          </p:nvPr>
        </p:nvSpPr>
        <p:spPr/>
        <p:txBody>
          <a:bodyPr>
            <a:normAutofit fontScale="25000" lnSpcReduction="20000"/>
          </a:bodyPr>
          <a:lstStyle/>
          <a:p>
            <a:r>
              <a:rPr lang="en-IN" sz="8000" dirty="0">
                <a:latin typeface="Times New Roman" panose="02020603050405020304" pitchFamily="18" charset="0"/>
                <a:cs typeface="Times New Roman" panose="02020603050405020304" pitchFamily="18" charset="0"/>
              </a:rPr>
              <a:t>Babaev, D., Savchenko, M., Tuzhilin, A., &amp; Umerenkov, D. (2019). E.T-RNN: Applying Deep Learning to Credit Loan Applications. arXiv preprint arXiv:1909.13256.</a:t>
            </a:r>
          </a:p>
          <a:p>
            <a:r>
              <a:rPr lang="en-IN" sz="8000" dirty="0">
                <a:latin typeface="Times New Roman" panose="02020603050405020304" pitchFamily="18" charset="0"/>
                <a:cs typeface="Times New Roman" panose="02020603050405020304" pitchFamily="18" charset="0"/>
              </a:rPr>
              <a:t>Subhiksha, R., Vaishnavi, L., Shalini, B., &amp; Manikandan, N. (2022). Bank Loan Approval Prediction Using Data Science Techniques (ML). International Journal for Research in Applied Science and Engineering Technology (IJRASET).</a:t>
            </a:r>
          </a:p>
          <a:p>
            <a:r>
              <a:rPr lang="en-IN" sz="8000" dirty="0">
                <a:latin typeface="Times New Roman" panose="02020603050405020304" pitchFamily="18" charset="0"/>
                <a:cs typeface="Times New Roman" panose="02020603050405020304" pitchFamily="18" charset="0"/>
              </a:rPr>
              <a:t>“An Ensemble Machine Learning Based Bank Loan Approval Predictions.” (2023). ScienceDirect.</a:t>
            </a:r>
          </a:p>
          <a:p>
            <a:r>
              <a:rPr lang="en-IN" sz="8000" dirty="0">
                <a:latin typeface="Times New Roman" panose="02020603050405020304" pitchFamily="18" charset="0"/>
                <a:cs typeface="Times New Roman" panose="02020603050405020304" pitchFamily="18" charset="0"/>
              </a:rPr>
              <a:t>Haque, F. M. A., &amp; Hassan, M. M. (2024). Bank Loan Prediction Using Machine Learning Techniques. American Journal of Industrial and Business Management. https://doi.org/10.4236/ajibm.2024.1412085</a:t>
            </a:r>
          </a:p>
          <a:p>
            <a:r>
              <a:rPr lang="en-IN" sz="8000" dirty="0">
                <a:latin typeface="Times New Roman" panose="02020603050405020304" pitchFamily="18" charset="0"/>
                <a:cs typeface="Times New Roman" panose="02020603050405020304" pitchFamily="18" charset="0"/>
              </a:rPr>
              <a:t>Tong, K., Han, Z., Shen, Y., Long, Y., &amp; Wei, Y. (2024). An Integrated Machine Learning and Deep Learning Framework for Credit Card Approval Prediction. arXiv preprint arXiv:2403.12345.</a:t>
            </a:r>
          </a:p>
          <a:p>
            <a:r>
              <a:rPr lang="en-IN" sz="8000" dirty="0">
                <a:latin typeface="Times New Roman" panose="02020603050405020304" pitchFamily="18" charset="0"/>
                <a:cs typeface="Times New Roman" panose="02020603050405020304" pitchFamily="18" charset="0"/>
              </a:rPr>
              <a:t>Yang, Y., Lin, Y., Zhang, Y., Su, Z., Goh, C. C., Fang, T., Bellotti, A. G., &amp; Lee, B. G. (2025). Transforming Credit Risk Analysis: A Time-Series-Driven ResE-BiLSTM Framework for Post-Loan Default Detection. arXiv preprint arXiv:2501.11234</a:t>
            </a:r>
            <a:r>
              <a:rPr lang="en-IN" sz="6200" dirty="0"/>
              <a:t>.</a:t>
            </a:r>
          </a:p>
          <a:p>
            <a:endParaRPr lang="en-IN" dirty="0"/>
          </a:p>
        </p:txBody>
      </p:sp>
    </p:spTree>
    <p:extLst>
      <p:ext uri="{BB962C8B-B14F-4D97-AF65-F5344CB8AC3E}">
        <p14:creationId xmlns:p14="http://schemas.microsoft.com/office/powerpoint/2010/main" val="27678651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9524C9B-BCAC-FF0C-0216-D3F2B74E4364}"/>
              </a:ext>
            </a:extLst>
          </p:cNvPr>
          <p:cNvSpPr>
            <a:spLocks noGrp="1"/>
          </p:cNvSpPr>
          <p:nvPr>
            <p:ph sz="half" idx="4294967295"/>
          </p:nvPr>
        </p:nvSpPr>
        <p:spPr>
          <a:xfrm>
            <a:off x="1282262" y="1629103"/>
            <a:ext cx="9690538" cy="3804745"/>
          </a:xfrm>
        </p:spPr>
        <p:txBody>
          <a:bodyPr>
            <a:normAutofit/>
          </a:bodyPr>
          <a:lstStyle/>
          <a:p>
            <a:pPr marL="0" indent="0" algn="ctr">
              <a:buNone/>
            </a:pPr>
            <a:r>
              <a:rPr lang="en-IN" sz="6000" b="1" dirty="0">
                <a:solidFill>
                  <a:srgbClr val="002060"/>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179011393"/>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{6AE60EE0-7345-4634-9030-D27AD4D1EA36}tf33552983_win32</Template>
  <TotalTime>651</TotalTime>
  <Words>4488</Words>
  <Application>Microsoft Office PowerPoint</Application>
  <PresentationFormat>Widescreen</PresentationFormat>
  <Paragraphs>369</Paragraphs>
  <Slides>38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38</vt:i4>
      </vt:variant>
    </vt:vector>
  </HeadingPairs>
  <TitlesOfParts>
    <vt:vector size="49" baseType="lpstr">
      <vt:lpstr>Arial</vt:lpstr>
      <vt:lpstr>Calibri</vt:lpstr>
      <vt:lpstr>Federo</vt:lpstr>
      <vt:lpstr>Franklin Gothic Book</vt:lpstr>
      <vt:lpstr>Franklin Gothic Demi</vt:lpstr>
      <vt:lpstr>Times New Roman</vt:lpstr>
      <vt:lpstr>Trebuchet MS</vt:lpstr>
      <vt:lpstr>universalSans</vt:lpstr>
      <vt:lpstr>Wingdings</vt:lpstr>
      <vt:lpstr>Wingdings 2</vt:lpstr>
      <vt:lpstr>DividendVTI</vt:lpstr>
      <vt:lpstr>                              Seth Ghasiram Gopikishan Badruka Educational Society                    Bankatlal Badruka College for Information Technology</vt:lpstr>
      <vt:lpstr>       Flight Ticket Price Prediction Using Machine Learning  And Deep Learning</vt:lpstr>
      <vt:lpstr>                                                  INDEX</vt:lpstr>
      <vt:lpstr> ABSTRACT</vt:lpstr>
      <vt:lpstr>Introduction</vt:lpstr>
      <vt:lpstr>PROBLEM STATEMENT </vt:lpstr>
      <vt:lpstr>Objectives</vt:lpstr>
      <vt:lpstr>IMPORTANCE </vt:lpstr>
      <vt:lpstr>HARDWARE REQUIREMENTS </vt:lpstr>
      <vt:lpstr>SOFTWARE REQUIREMENTS </vt:lpstr>
      <vt:lpstr>LITERATURE SURVEY </vt:lpstr>
      <vt:lpstr>methodology</vt:lpstr>
      <vt:lpstr>Dataset collection and DESCRIPTION </vt:lpstr>
      <vt:lpstr>PowerPoint Presentation</vt:lpstr>
      <vt:lpstr>DATA PREPROCESSING  </vt:lpstr>
      <vt:lpstr>PowerPoint Presentation</vt:lpstr>
      <vt:lpstr>Descriptive statistics table</vt:lpstr>
      <vt:lpstr>Exploratory data analysis</vt:lpstr>
      <vt:lpstr>Pie Chart of Source </vt:lpstr>
      <vt:lpstr>Correlation Heatmap</vt:lpstr>
      <vt:lpstr> Bar Chart of Arrival Category </vt:lpstr>
      <vt:lpstr>Introduction to machine learning</vt:lpstr>
      <vt:lpstr>Introduction to DEEP learning</vt:lpstr>
      <vt:lpstr>PowerPoint Presentation</vt:lpstr>
      <vt:lpstr>Selected algorithms</vt:lpstr>
      <vt:lpstr>PowerPoint Presentation</vt:lpstr>
      <vt:lpstr>Model performance comparison</vt:lpstr>
      <vt:lpstr>PowerPoint Presentation</vt:lpstr>
      <vt:lpstr>Overfitting and underfitting analysis</vt:lpstr>
      <vt:lpstr>PowerPoint Presentation</vt:lpstr>
      <vt:lpstr>DEPLOYMENT FOR BEST MODEL </vt:lpstr>
      <vt:lpstr>DEPLOYMENT INSTRUCTIONS </vt:lpstr>
      <vt:lpstr>DEPLOYMENT RESULTS </vt:lpstr>
      <vt:lpstr>CHALLENGES AND LIMITATIONS </vt:lpstr>
      <vt:lpstr>CONCLUSION</vt:lpstr>
      <vt:lpstr>FUTURE IMPROVEMENTS </vt:lpstr>
      <vt:lpstr> 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THOTA RAMYA</dc:creator>
  <cp:lastModifiedBy>THOTA RAMYA</cp:lastModifiedBy>
  <cp:revision>7</cp:revision>
  <dcterms:created xsi:type="dcterms:W3CDTF">2025-09-01T07:14:29Z</dcterms:created>
  <dcterms:modified xsi:type="dcterms:W3CDTF">2025-09-02T06:44:31Z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